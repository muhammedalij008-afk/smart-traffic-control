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fed3f4-5714-0ad3-af5d-46988f578095}">
          <p14:sldIdLst>
            <p14:sldId id="256"/>
            <p14:sldId id="257"/>
            <p14:sldId id="258"/>
          </p14:sldIdLst>
        </p14:section>
        <p14:section name="How it works" id="{384ffdeb-d6be-93db-4319-1d9a1b9a3722}">
          <p14:sldIdLst>
            <p14:sldId id="259"/>
            <p14:sldId id="260"/>
            <p14:sldId id="261"/>
            <p14:sldId id="262"/>
            <p14:sldId id="263"/>
          </p14:sldIdLst>
        </p14:section>
        <p14:section name="Results" id="{93feaf6c-3bef-1693-8ab4-79e34e79e4a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mn-lt"/>
              </a:defRPr>
            </a:pPr>
            <a:r>
              <a:rPr sz="1400" b="0" i="0" u="none" strike="noStrike">
                <a:solidFill>
                  <a:srgbClr val="1B1F23"/>
                </a:solidFill>
                <a:latin typeface="+mn-lt"/>
              </a:rPr>
              <a:t>Average wait per vehicle (seconds)</a:t>
            </a:r>
          </a:p>
        </c:rich>
      </c:tx>
      <c:layout/>
      <c:overlay val="0"/>
    </c:title>
    <c:autoTitleDeleted val="0"/>
    <c:plotArea>
      <c:layout/>
      <c:barChart>
        <c:barDir val="bar"/>
        <c:grouping val="clustered"/>
        <c:varyColors val="0"/>
        <c:ser>
          <c:idx val="0"/>
          <c:order val="0"/>
          <c:tx>
            <c:strRef>
              <c:f>Sheet1!$B$1</c:f>
              <c:strCache>
                <c:ptCount val="1"/>
                <c:pt idx="0">
                  <c:v>Average wait per vehicle (s)</c:v>
                </c:pt>
              </c:strCache>
            </c:strRef>
          </c:tx>
          <c:spPr>
            <a:solidFill>
              <a:srgbClr val="C0392B"/>
            </a:solidFill>
            <a:effectLst/>
          </c:spPr>
          <c:invertIfNegative val="0"/>
          <c:dLbls>
            <c:numFmt formatCode="0&quot; s&quot;" sourceLinked="0"/>
            <c:txPr>
              <a:bodyPr/>
              <a:lstStyle/>
              <a:p>
                <a:pPr>
                  <a:defRPr b="1" i="0" strike="noStrike" sz="1400" u="none">
                    <a:solidFill>
                      <a:srgbClr val="1B1F23"/>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0E7A52"/>
              </a:solidFill>
              <a:effectLst/>
            </c:spPr>
          </c:dPt>
          <c:cat>
            <c:multiLvlStrRef>
              <c:f>Sheet1!$A$2:$A$5</c:f>
              <c:multiLvlStrCache>
                <c:ptCount val="4"/>
                <c:lvl>
                  <c:pt idx="0">
                    <c:v>Fixed, 25 s each</c:v>
                  </c:pt>
                  <c:pt idx="1">
                    <c:v>Fixed, best equal (40 s)</c:v>
                  </c:pt>
                  <c:pt idx="2">
                    <c:v>Fixed, tuned split</c:v>
                  </c:pt>
                  <c:pt idx="3">
                    <c:v>Adaptive</c:v>
                  </c:pt>
                </c:lvl>
              </c:multiLvlStrCache>
            </c:multiLvlStrRef>
          </c:cat>
          <c:val>
            <c:numRef>
              <c:f>Sheet1!$B$2:$B$5</c:f>
              <c:numCache>
                <c:formatCode>General</c:formatCode>
                <c:ptCount val="4"/>
                <c:pt idx="0">
                  <c:v>211</c:v>
                </c:pt>
                <c:pt idx="1">
                  <c:v>183</c:v>
                </c:pt>
                <c:pt idx="2">
                  <c:v>38</c:v>
                </c:pt>
                <c:pt idx="3">
                  <c:v>24</c:v>
                </c:pt>
              </c:numCache>
            </c:numRef>
          </c:val>
        </c:ser>
        <c:dLbls>
          <c:numFmt formatCode="0&quot; s&quot;" sourceLinked="0"/>
          <c:txPr>
            <a:bodyPr/>
            <a:lstStyle/>
            <a:p>
              <a:pPr>
                <a:defRPr b="1" i="0" strike="noStrike" sz="1400" u="none">
                  <a:solidFill>
                    <a:srgbClr val="1B1F2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max val="2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Traffic is a prototype of an adaptive traffic signal controller. It runs in a web browser and compares two controllers on exactly the same random traffic: a fixed timer, and an adaptive controller that reads the queue on each road. The 3D scene on the right is the live adaptive junction.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signals today run fixed plans. Each road gets the same green in a fixed order, whether or not anyone is waiting. The four boxes show the problem: road A has a long queue and road C is empty, yet both get 25 seconds. The national figures give context for why wasted time matters: the Texas A&amp;M Urban Mobility Report put lost time at 63 hours per commuter in 2024 and the national cost at 269 billion dollars. These are real-world figures, not results from this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is simple: green time should follow the queue. The fixed timer repeats the same plan. The adaptive controller counts cars waiting on each road after every clearance interval and gives green to the road that needs it most, for as long as its queue justifies. Both controllers see the identical stream of random cars, so any difference in waiting time comes from the signal logic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simulator. On the left is the fixed timer, on the right the adaptive controller. Roads are A north, B east, C south and D west, and the number on each road is its queue length. Cars arrive at random at rates you set with sliders, and the same cars arrive at both junctions. You can drag the 3D scene to rotate it, or switch to a top-down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green ends, the controller runs the same loop. First, everything goes red for four seconds. Second, each other road gets a score: its queue length plus 0.2 times the seconds since it last had green. The second term stops small roads from starving. Third, the winner gets two seconds of green per queued car plus four seconds, held between 8 and 45. Fourth, if the queue empties after five seconds the green ends early. Fifth, an ambulance overrides the order. In the example, road A scores 12.4 and road D scores 12.0, so A goes first, but D is not far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vehicles are handled as an override. When an ambulance is detected on a road, conflicting greens end after at least five seconds, the junction clears, and the ambulance's road gets green for up to thirty seconds. The simulator shows the ambulance's delay in each panel. The fixed timer has no override, so the ambulance simply waits for its road's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splits the work. Sensors report queue lengths and detect emergency vehicles. The edge controller at the junction makes every signal decision on its own, so it keeps working if the network drops. A cloud layer is planned to learn demand patterns by hour and weekday and push tuned parameters back to each junction. The cloud layer is a design only; it is not part of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meant to be explored. You can change traffic per road, rotate the 3D view, trigger a rush or an ambulance, run a full day with peaks, change the fixed timer, and run repeated trials. The trials matter because a single run is random and can flatter either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the prototype's own simulation 100 times for each comparison, with 30 simulated minutes per run. A fixed timer with equal 25 second greens averaged 211 seconds of waiting per vehicle. Even the best equal green, 40 seconds, averaged 183. A fairer baseline is a fixed plan with longer greens on the busier roads, which the benchmark found at 43, 8, 8 and 27 seconds. That brought the fixed timer to 38 seconds. The adaptive controller averaged about 24 seconds, roughly 37 percent less than the tuned fixed plan, and had the lower wait in all 100 runs. This is a simulation with one set of traffic rates, so real junctions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limits: this is a simulation of a single junction, it assumes queue counts per road are available from sensors, and the cloud layer is a design. The next step is a pilot at one real junction using sensor counts, then coordination along a corridor and cloud learning. The idea to leave the audience with: green time should follow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028432" y="457200"/>
            <a:ext cx="658368" cy="173736"/>
          </a:xfrm>
          <a:prstGeom prst="rect">
            <a:avLst/>
          </a:prstGeom>
        </p:spPr>
      </p:pic>
      <p:sp>
        <p:nvSpPr>
          <p:cNvPr id="3" name="Text 0"/>
          <p:cNvSpPr/>
          <p:nvPr>
            <p:ph idx="101" type="title" hasCustomPrompt="1"/>
          </p:nvPr>
        </p:nvSpPr>
        <p:spPr>
          <a:xfrm>
            <a:off x="457200" y="320040"/>
            <a:ext cx="73152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028432" y="457200"/>
            <a:ext cx="658368" cy="173736"/>
          </a:xfrm>
          <a:prstGeom prst="rect">
            <a:avLst/>
          </a:prstGeom>
        </p:spPr>
      </p:pic>
      <p:sp>
        <p:nvSpPr>
          <p:cNvPr id="3" name="Text 0"/>
          <p:cNvSpPr/>
          <p:nvPr>
            <p:ph idx="101" type="title" hasCustomPrompt="1"/>
          </p:nvPr>
        </p:nvSpPr>
        <p:spPr>
          <a:xfrm>
            <a:off x="457200" y="320040"/>
            <a:ext cx="73152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658368" cy="173736"/>
          </a:xfrm>
          <a:prstGeom prst="rect">
            <a:avLst/>
          </a:prstGeom>
        </p:spPr>
      </p:pic>
      <p:sp>
        <p:nvSpPr>
          <p:cNvPr id="3" name="Text 0"/>
          <p:cNvSpPr/>
          <p:nvPr>
            <p:ph idx="101" type="title" hasCustomPrompt="1"/>
          </p:nvPr>
        </p:nvSpPr>
        <p:spPr>
          <a:xfrm>
            <a:off x="548640" y="1417320"/>
            <a:ext cx="402336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024128"/>
            <a:ext cx="420624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ADAPTIVE SIGNAL CONTROL PROTOTYPE</a:t>
            </a:r>
            <a:endParaRPr lang="en-US" sz="1200" dirty="0"/>
          </a:p>
        </p:txBody>
      </p:sp>
      <p:sp>
        <p:nvSpPr>
          <p:cNvPr id="3" name="Text 0"/>
          <p:cNvSpPr/>
          <p:nvPr>
            <p:ph idx="101" type="title" hasCustomPrompt="1"/>
          </p:nvPr>
        </p:nvSpPr>
        <p:spPr>
          <a:xfrm>
            <a:off x="548640" y="1417320"/>
            <a:ext cx="4023360" cy="1371600"/>
          </a:xfrm>
          <a:prstGeom prst="rect">
            <a:avLst/>
          </a:prstGeom>
          <a:noFill/>
          <a:ln/>
        </p:spPr>
        <p:txBody>
          <a:bodyPr wrap="square" lIns="0" tIns="0" rIns="0" bIns="0" rtlCol="0" anchor="t"/>
          <a:lstStyle/>
          <a:p>
            <a:pPr algn="l" indent="0" marL="0">
              <a:buNone/>
            </a:pPr>
            <a:r>
              <a:rPr lang="en-US" sz="4800" b="1" dirty="0">
                <a:solidFill>
                  <a:schemeClr val="bg1"/>
                </a:solidFill>
              </a:rPr>
              <a:t>Smart Traffic</a:t>
            </a:r>
            <a:endParaRPr lang="en-US" sz="4800" dirty="0"/>
          </a:p>
        </p:txBody>
      </p:sp>
      <p:sp>
        <p:nvSpPr>
          <p:cNvPr id="4" name="Subtitle"/>
          <p:cNvSpPr txBox="1"/>
          <p:nvPr/>
        </p:nvSpPr>
        <p:spPr>
          <a:xfrm>
            <a:off x="548640" y="2926080"/>
            <a:ext cx="4023360" cy="822960"/>
          </a:xfrm>
          <a:prstGeom prst="rect">
            <a:avLst/>
          </a:prstGeom>
          <a:noFill/>
          <a:ln/>
        </p:spPr>
        <p:txBody>
          <a:bodyPr wrap="square" lIns="0" tIns="0" rIns="0" bIns="0" rtlCol="0" anchor="t"/>
          <a:lstStyle/>
          <a:p>
            <a:pPr indent="0" marL="0">
              <a:buNone/>
            </a:pPr>
            <a:r>
              <a:rPr lang="en-US" sz="2400" dirty="0">
                <a:solidFill>
                  <a:schemeClr val="bg1"/>
                </a:solidFill>
              </a:rPr>
              <a:t>Signals that follow the queue</a:t>
            </a:r>
            <a:endParaRPr lang="en-US" sz="2400" dirty="0"/>
          </a:p>
        </p:txBody>
      </p:sp>
      <p:sp>
        <p:nvSpPr>
          <p:cNvPr id="5" name="Description"/>
          <p:cNvSpPr txBox="1"/>
          <p:nvPr/>
        </p:nvSpPr>
        <p:spPr>
          <a:xfrm>
            <a:off x="548640" y="3931920"/>
            <a:ext cx="3840480" cy="640080"/>
          </a:xfrm>
          <a:prstGeom prst="rect">
            <a:avLst/>
          </a:prstGeom>
          <a:noFill/>
          <a:ln/>
        </p:spPr>
        <p:txBody>
          <a:bodyPr wrap="square" lIns="0" tIns="0" rIns="0" bIns="0" rtlCol="0" anchor="t"/>
          <a:lstStyle/>
          <a:p>
            <a:pPr indent="0" marL="0">
              <a:buNone/>
            </a:pPr>
            <a:r>
              <a:rPr lang="en-US" sz="1400" dirty="0">
                <a:solidFill>
                  <a:schemeClr val="accent5"/>
                </a:solidFill>
              </a:rPr>
              <a:t>A browser simulation that compares a fixed timer with an adaptive controller on the same traffic.</a:t>
            </a:r>
            <a:endParaRPr lang="en-US" sz="1400" dirty="0"/>
          </a:p>
        </p:txBody>
      </p:sp>
      <p:pic>
        <p:nvPicPr>
          <p:cNvPr id="6" name="3D junction screenshot" descr="3D view of a four-way junction with queued cars and traffic lights">    </p:cNvPr>
          <p:cNvPicPr>
            <a:picLocks noChangeAspect="1"/>
          </p:cNvPicPr>
          <p:nvPr/>
        </p:nvPicPr>
        <p:blipFill>
          <a:blip r:embed="rId1"/>
          <a:stretch>
            <a:fillRect/>
          </a:stretch>
        </p:blipFill>
        <p:spPr>
          <a:xfrm>
            <a:off x="4846320" y="1234440"/>
            <a:ext cx="3840480" cy="2404872"/>
          </a:xfrm>
          <a:prstGeom prst="rect">
            <a:avLst/>
          </a:prstGeom>
        </p:spPr>
      </p:pic>
      <p:sp>
        <p:nvSpPr>
          <p:cNvPr id="7" name="Screenshot caption"/>
          <p:cNvSpPr txBox="1"/>
          <p:nvPr/>
        </p:nvSpPr>
        <p:spPr>
          <a:xfrm>
            <a:off x="4846320" y="3730752"/>
            <a:ext cx="3840480" cy="274320"/>
          </a:xfrm>
          <a:prstGeom prst="rect">
            <a:avLst/>
          </a:prstGeom>
          <a:noFill/>
          <a:ln/>
        </p:spPr>
        <p:txBody>
          <a:bodyPr wrap="square" lIns="0" tIns="0" rIns="0" bIns="0" rtlCol="0" anchor="t"/>
          <a:lstStyle/>
          <a:p>
            <a:pPr indent="0" marL="0">
              <a:buNone/>
            </a:pPr>
            <a:r>
              <a:rPr lang="en-US" sz="1000" dirty="0">
                <a:solidFill>
                  <a:schemeClr val="accent5"/>
                </a:solidFill>
              </a:rPr>
              <a:t>Live 3D view of the adaptive controller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Fixed timers waste green time</a:t>
            </a:r>
            <a:endParaRPr lang="en-US" sz="3400" dirty="0"/>
          </a:p>
        </p:txBody>
      </p:sp>
      <p:sp>
        <p:nvSpPr>
          <p:cNvPr id="3" name="Problem statement"/>
          <p:cNvSpPr txBox="1"/>
          <p:nvPr/>
        </p:nvSpPr>
        <p:spPr>
          <a:xfrm>
            <a:off x="457200" y="1280160"/>
            <a:ext cx="4846320" cy="1097280"/>
          </a:xfrm>
          <a:prstGeom prst="rect">
            <a:avLst/>
          </a:prstGeom>
          <a:noFill/>
          <a:ln/>
        </p:spPr>
        <p:txBody>
          <a:bodyPr wrap="square" lIns="0" tIns="0" rIns="0" bIns="0" rtlCol="0" anchor="t"/>
          <a:lstStyle/>
          <a:p>
            <a:pPr indent="0" marL="0">
              <a:buNone/>
            </a:pPr>
            <a:r>
              <a:rPr lang="en-US" sz="1600" dirty="0">
                <a:solidFill>
                  <a:schemeClr val="tx1"/>
                </a:solidFill>
              </a:rPr>
              <a:t>A fixed timer gives each road the same green, in the same order, all day. It cannot see the queue, so an empty road gets a full turn while a busy road backs up.</a:t>
            </a:r>
            <a:endParaRPr lang="en-US" sz="1600" dirty="0"/>
          </a:p>
        </p:txBody>
      </p:sp>
      <p:sp>
        <p:nvSpPr>
          <p:cNvPr id="4" name="Diagram label"/>
          <p:cNvSpPr txBox="1"/>
          <p:nvPr/>
        </p:nvSpPr>
        <p:spPr>
          <a:xfrm>
            <a:off x="457200" y="2514600"/>
            <a:ext cx="4846320" cy="274320"/>
          </a:xfrm>
          <a:prstGeom prst="rect">
            <a:avLst/>
          </a:prstGeom>
          <a:noFill/>
          <a:ln/>
        </p:spPr>
        <p:txBody>
          <a:bodyPr wrap="square" lIns="0" tIns="0" rIns="0" bIns="0" rtlCol="0" anchor="t"/>
          <a:lstStyle/>
          <a:p>
            <a:pPr indent="0" marL="0">
              <a:buNone/>
            </a:pPr>
            <a:r>
              <a:rPr lang="en-US" sz="1200" b="1" dirty="0">
                <a:solidFill>
                  <a:schemeClr val="accent4"/>
                </a:solidFill>
              </a:rPr>
              <a:t>Example: same green, very different queues</a:t>
            </a:r>
            <a:endParaRPr lang="en-US" sz="1200" dirty="0"/>
          </a:p>
        </p:txBody>
      </p:sp>
      <p:sp>
        <p:nvSpPr>
          <p:cNvPr id="5" name="Road A card"/>
          <p:cNvSpPr/>
          <p:nvPr/>
        </p:nvSpPr>
        <p:spPr>
          <a:xfrm>
            <a:off x="457200" y="2880360"/>
            <a:ext cx="1097280" cy="1417320"/>
          </a:xfrm>
          <a:prstGeom prst="rect">
            <a:avLst/>
          </a:prstGeom>
          <a:solidFill>
            <a:schemeClr val="bg2"/>
          </a:solidFill>
          <a:ln/>
        </p:spPr>
      </p:sp>
      <p:sp>
        <p:nvSpPr>
          <p:cNvPr id="6" name="Road A"/>
          <p:cNvSpPr txBox="1"/>
          <p:nvPr/>
        </p:nvSpPr>
        <p:spPr>
          <a:xfrm>
            <a:off x="566928" y="2990088"/>
            <a:ext cx="914400" cy="274320"/>
          </a:xfrm>
          <a:prstGeom prst="rect">
            <a:avLst/>
          </a:prstGeom>
          <a:noFill/>
          <a:ln/>
        </p:spPr>
        <p:txBody>
          <a:bodyPr wrap="square" lIns="0" tIns="0" rIns="0" bIns="0" rtlCol="0" anchor="t"/>
          <a:lstStyle/>
          <a:p>
            <a:pPr indent="0" marL="0">
              <a:buNone/>
            </a:pPr>
            <a:r>
              <a:rPr lang="en-US" sz="1400" b="1" dirty="0">
                <a:solidFill>
                  <a:schemeClr val="tx1"/>
                </a:solidFill>
              </a:rPr>
              <a:t>Road A</a:t>
            </a:r>
            <a:endParaRPr lang="en-US" sz="1400" dirty="0"/>
          </a:p>
        </p:txBody>
      </p:sp>
      <p:sp>
        <p:nvSpPr>
          <p:cNvPr id="7" name="Green A"/>
          <p:cNvSpPr txBox="1"/>
          <p:nvPr/>
        </p:nvSpPr>
        <p:spPr>
          <a:xfrm>
            <a:off x="566928" y="3310128"/>
            <a:ext cx="914400" cy="274320"/>
          </a:xfrm>
          <a:prstGeom prst="rect">
            <a:avLst/>
          </a:prstGeom>
          <a:noFill/>
          <a:ln/>
        </p:spPr>
        <p:txBody>
          <a:bodyPr wrap="square" lIns="0" tIns="0" rIns="0" bIns="0" rtlCol="0" anchor="t"/>
          <a:lstStyle/>
          <a:p>
            <a:pPr indent="0" marL="0">
              <a:buNone/>
            </a:pPr>
            <a:r>
              <a:rPr lang="en-US" sz="1400" dirty="0">
                <a:solidFill>
                  <a:schemeClr val="accent4"/>
                </a:solidFill>
              </a:rPr>
              <a:t>25 s green</a:t>
            </a:r>
            <a:endParaRPr lang="en-US" sz="1400" dirty="0"/>
          </a:p>
        </p:txBody>
      </p:sp>
      <p:sp>
        <p:nvSpPr>
          <p:cNvPr id="8" name="Queue A"/>
          <p:cNvSpPr txBox="1"/>
          <p:nvPr/>
        </p:nvSpPr>
        <p:spPr>
          <a:xfrm>
            <a:off x="566928" y="3703320"/>
            <a:ext cx="914400" cy="457200"/>
          </a:xfrm>
          <a:prstGeom prst="rect">
            <a:avLst/>
          </a:prstGeom>
          <a:noFill/>
          <a:ln/>
        </p:spPr>
        <p:txBody>
          <a:bodyPr wrap="square" lIns="0" tIns="0" rIns="0" bIns="0" rtlCol="0" anchor="t"/>
          <a:lstStyle/>
          <a:p>
            <a:pPr indent="0" marL="0">
              <a:buNone/>
            </a:pPr>
            <a:r>
              <a:rPr lang="en-US" sz="1400" b="1" dirty="0">
                <a:solidFill>
                  <a:schemeClr val="accent3"/>
                </a:solidFill>
              </a:rPr>
              <a:t>14 cars waiting</a:t>
            </a:r>
            <a:endParaRPr lang="en-US" sz="1400" dirty="0"/>
          </a:p>
        </p:txBody>
      </p:sp>
      <p:sp>
        <p:nvSpPr>
          <p:cNvPr id="9" name="Road B card"/>
          <p:cNvSpPr/>
          <p:nvPr/>
        </p:nvSpPr>
        <p:spPr>
          <a:xfrm>
            <a:off x="1664208" y="2880360"/>
            <a:ext cx="1097280" cy="1417320"/>
          </a:xfrm>
          <a:prstGeom prst="rect">
            <a:avLst/>
          </a:prstGeom>
          <a:solidFill>
            <a:schemeClr val="bg2"/>
          </a:solidFill>
          <a:ln/>
        </p:spPr>
      </p:sp>
      <p:sp>
        <p:nvSpPr>
          <p:cNvPr id="10" name="Road B"/>
          <p:cNvSpPr txBox="1"/>
          <p:nvPr/>
        </p:nvSpPr>
        <p:spPr>
          <a:xfrm>
            <a:off x="1773936" y="2990088"/>
            <a:ext cx="914400" cy="274320"/>
          </a:xfrm>
          <a:prstGeom prst="rect">
            <a:avLst/>
          </a:prstGeom>
          <a:noFill/>
          <a:ln/>
        </p:spPr>
        <p:txBody>
          <a:bodyPr wrap="square" lIns="0" tIns="0" rIns="0" bIns="0" rtlCol="0" anchor="t"/>
          <a:lstStyle/>
          <a:p>
            <a:pPr indent="0" marL="0">
              <a:buNone/>
            </a:pPr>
            <a:r>
              <a:rPr lang="en-US" sz="1400" b="1" dirty="0">
                <a:solidFill>
                  <a:schemeClr val="tx1"/>
                </a:solidFill>
              </a:rPr>
              <a:t>Road B</a:t>
            </a:r>
            <a:endParaRPr lang="en-US" sz="1400" dirty="0"/>
          </a:p>
        </p:txBody>
      </p:sp>
      <p:sp>
        <p:nvSpPr>
          <p:cNvPr id="11" name="Green B"/>
          <p:cNvSpPr txBox="1"/>
          <p:nvPr/>
        </p:nvSpPr>
        <p:spPr>
          <a:xfrm>
            <a:off x="1773936" y="3310128"/>
            <a:ext cx="914400" cy="274320"/>
          </a:xfrm>
          <a:prstGeom prst="rect">
            <a:avLst/>
          </a:prstGeom>
          <a:noFill/>
          <a:ln/>
        </p:spPr>
        <p:txBody>
          <a:bodyPr wrap="square" lIns="0" tIns="0" rIns="0" bIns="0" rtlCol="0" anchor="t"/>
          <a:lstStyle/>
          <a:p>
            <a:pPr indent="0" marL="0">
              <a:buNone/>
            </a:pPr>
            <a:r>
              <a:rPr lang="en-US" sz="1400" dirty="0">
                <a:solidFill>
                  <a:schemeClr val="accent4"/>
                </a:solidFill>
              </a:rPr>
              <a:t>25 s green</a:t>
            </a:r>
            <a:endParaRPr lang="en-US" sz="1400" dirty="0"/>
          </a:p>
        </p:txBody>
      </p:sp>
      <p:sp>
        <p:nvSpPr>
          <p:cNvPr id="12" name="Queue B"/>
          <p:cNvSpPr txBox="1"/>
          <p:nvPr/>
        </p:nvSpPr>
        <p:spPr>
          <a:xfrm>
            <a:off x="1773936" y="3703320"/>
            <a:ext cx="914400" cy="457200"/>
          </a:xfrm>
          <a:prstGeom prst="rect">
            <a:avLst/>
          </a:prstGeom>
          <a:noFill/>
          <a:ln/>
        </p:spPr>
        <p:txBody>
          <a:bodyPr wrap="square" lIns="0" tIns="0" rIns="0" bIns="0" rtlCol="0" anchor="t"/>
          <a:lstStyle/>
          <a:p>
            <a:pPr indent="0" marL="0">
              <a:buNone/>
            </a:pPr>
            <a:r>
              <a:rPr lang="en-US" sz="1400" dirty="0">
                <a:solidFill>
                  <a:schemeClr val="accent4"/>
                </a:solidFill>
              </a:rPr>
              <a:t>1 car waiting</a:t>
            </a:r>
            <a:endParaRPr lang="en-US" sz="1400" dirty="0"/>
          </a:p>
        </p:txBody>
      </p:sp>
      <p:sp>
        <p:nvSpPr>
          <p:cNvPr id="13" name="Road C card"/>
          <p:cNvSpPr/>
          <p:nvPr/>
        </p:nvSpPr>
        <p:spPr>
          <a:xfrm>
            <a:off x="2871216" y="2880360"/>
            <a:ext cx="1097280" cy="1417320"/>
          </a:xfrm>
          <a:prstGeom prst="rect">
            <a:avLst/>
          </a:prstGeom>
          <a:solidFill>
            <a:schemeClr val="bg2"/>
          </a:solidFill>
          <a:ln/>
        </p:spPr>
      </p:sp>
      <p:sp>
        <p:nvSpPr>
          <p:cNvPr id="14" name="Road C"/>
          <p:cNvSpPr txBox="1"/>
          <p:nvPr/>
        </p:nvSpPr>
        <p:spPr>
          <a:xfrm>
            <a:off x="2980944" y="2990088"/>
            <a:ext cx="914400" cy="274320"/>
          </a:xfrm>
          <a:prstGeom prst="rect">
            <a:avLst/>
          </a:prstGeom>
          <a:noFill/>
          <a:ln/>
        </p:spPr>
        <p:txBody>
          <a:bodyPr wrap="square" lIns="0" tIns="0" rIns="0" bIns="0" rtlCol="0" anchor="t"/>
          <a:lstStyle/>
          <a:p>
            <a:pPr indent="0" marL="0">
              <a:buNone/>
            </a:pPr>
            <a:r>
              <a:rPr lang="en-US" sz="1400" b="1" dirty="0">
                <a:solidFill>
                  <a:schemeClr val="tx1"/>
                </a:solidFill>
              </a:rPr>
              <a:t>Road C</a:t>
            </a:r>
            <a:endParaRPr lang="en-US" sz="1400" dirty="0"/>
          </a:p>
        </p:txBody>
      </p:sp>
      <p:sp>
        <p:nvSpPr>
          <p:cNvPr id="15" name="Green C"/>
          <p:cNvSpPr txBox="1"/>
          <p:nvPr/>
        </p:nvSpPr>
        <p:spPr>
          <a:xfrm>
            <a:off x="2980944" y="3310128"/>
            <a:ext cx="914400" cy="274320"/>
          </a:xfrm>
          <a:prstGeom prst="rect">
            <a:avLst/>
          </a:prstGeom>
          <a:noFill/>
          <a:ln/>
        </p:spPr>
        <p:txBody>
          <a:bodyPr wrap="square" lIns="0" tIns="0" rIns="0" bIns="0" rtlCol="0" anchor="t"/>
          <a:lstStyle/>
          <a:p>
            <a:pPr indent="0" marL="0">
              <a:buNone/>
            </a:pPr>
            <a:r>
              <a:rPr lang="en-US" sz="1400" dirty="0">
                <a:solidFill>
                  <a:schemeClr val="accent4"/>
                </a:solidFill>
              </a:rPr>
              <a:t>25 s green</a:t>
            </a:r>
            <a:endParaRPr lang="en-US" sz="1400" dirty="0"/>
          </a:p>
        </p:txBody>
      </p:sp>
      <p:sp>
        <p:nvSpPr>
          <p:cNvPr id="16" name="Queue C"/>
          <p:cNvSpPr txBox="1"/>
          <p:nvPr/>
        </p:nvSpPr>
        <p:spPr>
          <a:xfrm>
            <a:off x="2980944" y="3703320"/>
            <a:ext cx="914400" cy="457200"/>
          </a:xfrm>
          <a:prstGeom prst="rect">
            <a:avLst/>
          </a:prstGeom>
          <a:noFill/>
          <a:ln/>
        </p:spPr>
        <p:txBody>
          <a:bodyPr wrap="square" lIns="0" tIns="0" rIns="0" bIns="0" rtlCol="0" anchor="t"/>
          <a:lstStyle/>
          <a:p>
            <a:pPr indent="0" marL="0">
              <a:buNone/>
            </a:pPr>
            <a:r>
              <a:rPr lang="en-US" sz="1400" dirty="0">
                <a:solidFill>
                  <a:schemeClr val="accent4"/>
                </a:solidFill>
              </a:rPr>
              <a:t>0 cars waiting</a:t>
            </a:r>
            <a:endParaRPr lang="en-US" sz="1400" dirty="0"/>
          </a:p>
        </p:txBody>
      </p:sp>
      <p:sp>
        <p:nvSpPr>
          <p:cNvPr id="17" name="Road D card"/>
          <p:cNvSpPr/>
          <p:nvPr/>
        </p:nvSpPr>
        <p:spPr>
          <a:xfrm>
            <a:off x="4078224" y="2880360"/>
            <a:ext cx="1097280" cy="1417320"/>
          </a:xfrm>
          <a:prstGeom prst="rect">
            <a:avLst/>
          </a:prstGeom>
          <a:solidFill>
            <a:schemeClr val="bg2"/>
          </a:solidFill>
          <a:ln/>
        </p:spPr>
      </p:sp>
      <p:sp>
        <p:nvSpPr>
          <p:cNvPr id="18" name="Road D"/>
          <p:cNvSpPr txBox="1"/>
          <p:nvPr/>
        </p:nvSpPr>
        <p:spPr>
          <a:xfrm>
            <a:off x="4187952" y="2990088"/>
            <a:ext cx="914400" cy="274320"/>
          </a:xfrm>
          <a:prstGeom prst="rect">
            <a:avLst/>
          </a:prstGeom>
          <a:noFill/>
          <a:ln/>
        </p:spPr>
        <p:txBody>
          <a:bodyPr wrap="square" lIns="0" tIns="0" rIns="0" bIns="0" rtlCol="0" anchor="t"/>
          <a:lstStyle/>
          <a:p>
            <a:pPr indent="0" marL="0">
              <a:buNone/>
            </a:pPr>
            <a:r>
              <a:rPr lang="en-US" sz="1400" b="1" dirty="0">
                <a:solidFill>
                  <a:schemeClr val="tx1"/>
                </a:solidFill>
              </a:rPr>
              <a:t>Road D</a:t>
            </a:r>
            <a:endParaRPr lang="en-US" sz="1400" dirty="0"/>
          </a:p>
        </p:txBody>
      </p:sp>
      <p:sp>
        <p:nvSpPr>
          <p:cNvPr id="19" name="Green D"/>
          <p:cNvSpPr txBox="1"/>
          <p:nvPr/>
        </p:nvSpPr>
        <p:spPr>
          <a:xfrm>
            <a:off x="4187952" y="3310128"/>
            <a:ext cx="914400" cy="274320"/>
          </a:xfrm>
          <a:prstGeom prst="rect">
            <a:avLst/>
          </a:prstGeom>
          <a:noFill/>
          <a:ln/>
        </p:spPr>
        <p:txBody>
          <a:bodyPr wrap="square" lIns="0" tIns="0" rIns="0" bIns="0" rtlCol="0" anchor="t"/>
          <a:lstStyle/>
          <a:p>
            <a:pPr indent="0" marL="0">
              <a:buNone/>
            </a:pPr>
            <a:r>
              <a:rPr lang="en-US" sz="1400" dirty="0">
                <a:solidFill>
                  <a:schemeClr val="accent4"/>
                </a:solidFill>
              </a:rPr>
              <a:t>25 s green</a:t>
            </a:r>
            <a:endParaRPr lang="en-US" sz="1400" dirty="0"/>
          </a:p>
        </p:txBody>
      </p:sp>
      <p:sp>
        <p:nvSpPr>
          <p:cNvPr id="20" name="Queue D"/>
          <p:cNvSpPr txBox="1"/>
          <p:nvPr/>
        </p:nvSpPr>
        <p:spPr>
          <a:xfrm>
            <a:off x="4187952" y="3703320"/>
            <a:ext cx="914400" cy="457200"/>
          </a:xfrm>
          <a:prstGeom prst="rect">
            <a:avLst/>
          </a:prstGeom>
          <a:noFill/>
          <a:ln/>
        </p:spPr>
        <p:txBody>
          <a:bodyPr wrap="square" lIns="0" tIns="0" rIns="0" bIns="0" rtlCol="0" anchor="t"/>
          <a:lstStyle/>
          <a:p>
            <a:pPr indent="0" marL="0">
              <a:buNone/>
            </a:pPr>
            <a:r>
              <a:rPr lang="en-US" sz="1400" dirty="0">
                <a:solidFill>
                  <a:schemeClr val="accent4"/>
                </a:solidFill>
              </a:rPr>
              <a:t>6 cars waiting</a:t>
            </a:r>
            <a:endParaRPr lang="en-US" sz="1400" dirty="0"/>
          </a:p>
        </p:txBody>
      </p:sp>
      <p:sp>
        <p:nvSpPr>
          <p:cNvPr id="21" name="Stat card 1"/>
          <p:cNvSpPr/>
          <p:nvPr/>
        </p:nvSpPr>
        <p:spPr>
          <a:xfrm>
            <a:off x="5669280" y="1280160"/>
            <a:ext cx="3017520" cy="1508760"/>
          </a:xfrm>
          <a:prstGeom prst="rect">
            <a:avLst/>
          </a:prstGeom>
          <a:solidFill>
            <a:schemeClr val="bg2"/>
          </a:solidFill>
          <a:ln/>
        </p:spPr>
      </p:sp>
      <p:sp>
        <p:nvSpPr>
          <p:cNvPr id="22" name="Stat 1"/>
          <p:cNvSpPr txBox="1"/>
          <p:nvPr/>
        </p:nvSpPr>
        <p:spPr>
          <a:xfrm>
            <a:off x="5852160" y="1389888"/>
            <a:ext cx="2651760" cy="640080"/>
          </a:xfrm>
          <a:prstGeom prst="rect">
            <a:avLst/>
          </a:prstGeom>
          <a:noFill/>
          <a:ln/>
        </p:spPr>
        <p:txBody>
          <a:bodyPr wrap="square" lIns="0" tIns="0" rIns="0" bIns="0" rtlCol="0" anchor="t"/>
          <a:lstStyle/>
          <a:p>
            <a:pPr indent="0" marL="0">
              <a:buNone/>
            </a:pPr>
            <a:r>
              <a:rPr lang="en-US" sz="4000" b="1" dirty="0">
                <a:solidFill>
                  <a:schemeClr val="accent1"/>
                </a:solidFill>
              </a:rPr>
              <a:t>63 h</a:t>
            </a:r>
            <a:endParaRPr lang="en-US" sz="4000" dirty="0"/>
          </a:p>
        </p:txBody>
      </p:sp>
      <p:sp>
        <p:nvSpPr>
          <p:cNvPr id="23" name="Stat label 1"/>
          <p:cNvSpPr txBox="1"/>
          <p:nvPr/>
        </p:nvSpPr>
        <p:spPr>
          <a:xfrm>
            <a:off x="5852160" y="2057400"/>
            <a:ext cx="2651760" cy="640080"/>
          </a:xfrm>
          <a:prstGeom prst="rect">
            <a:avLst/>
          </a:prstGeom>
          <a:noFill/>
          <a:ln/>
        </p:spPr>
        <p:txBody>
          <a:bodyPr wrap="square" lIns="0" tIns="0" rIns="0" bIns="0" rtlCol="0" anchor="t"/>
          <a:lstStyle/>
          <a:p>
            <a:pPr indent="0" marL="0">
              <a:buNone/>
            </a:pPr>
            <a:r>
              <a:rPr lang="en-US" sz="1400" dirty="0">
                <a:solidFill>
                  <a:schemeClr val="tx1"/>
                </a:solidFill>
              </a:rPr>
              <a:t>lost to congestion by the average US commuter in 2024, the highest on record</a:t>
            </a:r>
            <a:endParaRPr lang="en-US" sz="1400" dirty="0"/>
          </a:p>
        </p:txBody>
      </p:sp>
      <p:sp>
        <p:nvSpPr>
          <p:cNvPr id="24" name="Stat card 2"/>
          <p:cNvSpPr/>
          <p:nvPr/>
        </p:nvSpPr>
        <p:spPr>
          <a:xfrm>
            <a:off x="5669280" y="2926080"/>
            <a:ext cx="3017520" cy="1508760"/>
          </a:xfrm>
          <a:prstGeom prst="rect">
            <a:avLst/>
          </a:prstGeom>
          <a:solidFill>
            <a:schemeClr val="bg2"/>
          </a:solidFill>
          <a:ln/>
        </p:spPr>
      </p:sp>
      <p:sp>
        <p:nvSpPr>
          <p:cNvPr id="25" name="Stat 2"/>
          <p:cNvSpPr txBox="1"/>
          <p:nvPr/>
        </p:nvSpPr>
        <p:spPr>
          <a:xfrm>
            <a:off x="5852160" y="3035808"/>
            <a:ext cx="2651760" cy="640080"/>
          </a:xfrm>
          <a:prstGeom prst="rect">
            <a:avLst/>
          </a:prstGeom>
          <a:noFill/>
          <a:ln/>
        </p:spPr>
        <p:txBody>
          <a:bodyPr wrap="square" lIns="0" tIns="0" rIns="0" bIns="0" rtlCol="0" anchor="t"/>
          <a:lstStyle/>
          <a:p>
            <a:pPr indent="0" marL="0">
              <a:buNone/>
            </a:pPr>
            <a:r>
              <a:rPr lang="en-US" sz="4000" b="1" dirty="0">
                <a:solidFill>
                  <a:schemeClr val="accent1"/>
                </a:solidFill>
              </a:rPr>
              <a:t>$269B</a:t>
            </a:r>
            <a:endParaRPr lang="en-US" sz="4000" dirty="0"/>
          </a:p>
        </p:txBody>
      </p:sp>
      <p:sp>
        <p:nvSpPr>
          <p:cNvPr id="26" name="Stat label 2"/>
          <p:cNvSpPr txBox="1"/>
          <p:nvPr/>
        </p:nvSpPr>
        <p:spPr>
          <a:xfrm>
            <a:off x="5852160" y="3703320"/>
            <a:ext cx="2651760" cy="640080"/>
          </a:xfrm>
          <a:prstGeom prst="rect">
            <a:avLst/>
          </a:prstGeom>
          <a:noFill/>
          <a:ln/>
        </p:spPr>
        <p:txBody>
          <a:bodyPr wrap="square" lIns="0" tIns="0" rIns="0" bIns="0" rtlCol="0" anchor="t"/>
          <a:lstStyle/>
          <a:p>
            <a:pPr indent="0" marL="0">
              <a:buNone/>
            </a:pPr>
            <a:r>
              <a:rPr lang="en-US" sz="1400" dirty="0">
                <a:solidFill>
                  <a:schemeClr val="tx1"/>
                </a:solidFill>
              </a:rPr>
              <a:t>national cost of congestion in 2024</a:t>
            </a:r>
            <a:endParaRPr lang="en-US" sz="1400" dirty="0"/>
          </a:p>
        </p:txBody>
      </p:sp>
      <p:sp>
        <p:nvSpPr>
          <p:cNvPr id="27" name="Source"/>
          <p:cNvSpPr txBox="1"/>
          <p:nvPr/>
        </p:nvSpPr>
        <p:spPr>
          <a:xfrm>
            <a:off x="457200" y="4617720"/>
            <a:ext cx="7680960" cy="228600"/>
          </a:xfrm>
          <a:prstGeom prst="rect">
            <a:avLst/>
          </a:prstGeom>
          <a:noFill/>
          <a:ln/>
        </p:spPr>
        <p:txBody>
          <a:bodyPr wrap="square" lIns="0" tIns="0" rIns="0" bIns="0" rtlCol="0" anchor="t"/>
          <a:lstStyle/>
          <a:p>
            <a:pPr indent="0" marL="0">
              <a:buNone/>
            </a:pPr>
            <a:r>
              <a:rPr lang="en-US" sz="1000" dirty="0">
                <a:solidFill>
                  <a:schemeClr val="accent5"/>
                </a:solidFill>
              </a:rPr>
              <a:t>Source: Texas A&amp;M Transportation Institute, Urban Mobility Report (2025 release, 2024 data).</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The idea: follow the queue</a:t>
            </a:r>
            <a:endParaRPr lang="en-US" sz="3400" dirty="0"/>
          </a:p>
        </p:txBody>
      </p:sp>
      <p:sp>
        <p:nvSpPr>
          <p:cNvPr id="3" name="Fixed timer card"/>
          <p:cNvSpPr/>
          <p:nvPr/>
        </p:nvSpPr>
        <p:spPr>
          <a:xfrm>
            <a:off x="457200" y="1280160"/>
            <a:ext cx="4023360" cy="2743200"/>
          </a:xfrm>
          <a:prstGeom prst="rect">
            <a:avLst/>
          </a:prstGeom>
          <a:solidFill>
            <a:schemeClr val="bg2"/>
          </a:solidFill>
          <a:ln/>
        </p:spPr>
      </p:sp>
      <p:sp>
        <p:nvSpPr>
          <p:cNvPr id="4" name="Fixed timer heading"/>
          <p:cNvSpPr txBox="1"/>
          <p:nvPr/>
        </p:nvSpPr>
        <p:spPr>
          <a:xfrm>
            <a:off x="731520" y="1417320"/>
            <a:ext cx="3474720" cy="411480"/>
          </a:xfrm>
          <a:prstGeom prst="rect">
            <a:avLst/>
          </a:prstGeom>
          <a:noFill/>
          <a:ln/>
        </p:spPr>
        <p:txBody>
          <a:bodyPr wrap="square" lIns="0" tIns="0" rIns="0" bIns="0" rtlCol="0" anchor="t"/>
          <a:lstStyle/>
          <a:p>
            <a:pPr indent="0" marL="0">
              <a:buNone/>
            </a:pPr>
            <a:r>
              <a:rPr lang="en-US" sz="2200" b="1" dirty="0">
                <a:solidFill>
                  <a:schemeClr val="tx1"/>
                </a:solidFill>
              </a:rPr>
              <a:t>Fixed timer</a:t>
            </a:r>
            <a:endParaRPr lang="en-US" sz="2200" dirty="0"/>
          </a:p>
        </p:txBody>
      </p:sp>
      <p:sp>
        <p:nvSpPr>
          <p:cNvPr id="5" name="Fixed timer icon 1 circle"/>
          <p:cNvSpPr/>
          <p:nvPr/>
        </p:nvSpPr>
        <p:spPr>
          <a:xfrm>
            <a:off x="731520" y="2011680"/>
            <a:ext cx="292608" cy="292608"/>
          </a:xfrm>
          <a:prstGeom prst="ellipse">
            <a:avLst/>
          </a:prstGeom>
          <a:solidFill>
            <a:schemeClr val="accent3"/>
          </a:solidFill>
          <a:ln/>
        </p:spPr>
      </p:sp>
      <p:pic>
        <p:nvPicPr>
          <p:cNvPr id="6" name="Fixed timer icon 1" descr="Fixed timer icon 1">    </p:cNvPr>
          <p:cNvPicPr>
            <a:picLocks noChangeAspect="1"/>
          </p:cNvPicPr>
          <p:nvPr/>
        </p:nvPicPr>
        <p:blipFill>
          <a:blip r:embed="rId1"/>
          <a:stretch>
            <a:fillRect/>
          </a:stretch>
        </p:blipFill>
        <p:spPr>
          <a:xfrm>
            <a:off x="804672" y="2084832"/>
            <a:ext cx="146304" cy="146304"/>
          </a:xfrm>
          <a:prstGeom prst="rect">
            <a:avLst/>
          </a:prstGeom>
        </p:spPr>
      </p:pic>
      <p:sp>
        <p:nvSpPr>
          <p:cNvPr id="7" name="Fixed timer row 1"/>
          <p:cNvSpPr txBox="1"/>
          <p:nvPr/>
        </p:nvSpPr>
        <p:spPr>
          <a:xfrm>
            <a:off x="1143000" y="2029968"/>
            <a:ext cx="3108960" cy="274320"/>
          </a:xfrm>
          <a:prstGeom prst="rect">
            <a:avLst/>
          </a:prstGeom>
          <a:noFill/>
          <a:ln/>
        </p:spPr>
        <p:txBody>
          <a:bodyPr wrap="square" lIns="0" tIns="0" rIns="0" bIns="0" rtlCol="0" anchor="t"/>
          <a:lstStyle/>
          <a:p>
            <a:pPr indent="0" marL="0">
              <a:buNone/>
            </a:pPr>
            <a:r>
              <a:rPr lang="en-US" sz="1600" dirty="0">
                <a:solidFill>
                  <a:schemeClr val="tx1"/>
                </a:solidFill>
              </a:rPr>
              <a:t>Same 25 s green on every road</a:t>
            </a:r>
            <a:endParaRPr lang="en-US" sz="1600" dirty="0"/>
          </a:p>
        </p:txBody>
      </p:sp>
      <p:sp>
        <p:nvSpPr>
          <p:cNvPr id="8" name="Fixed timer icon 2 circle"/>
          <p:cNvSpPr/>
          <p:nvPr/>
        </p:nvSpPr>
        <p:spPr>
          <a:xfrm>
            <a:off x="731520" y="2468880"/>
            <a:ext cx="292608" cy="292608"/>
          </a:xfrm>
          <a:prstGeom prst="ellipse">
            <a:avLst/>
          </a:prstGeom>
          <a:solidFill>
            <a:schemeClr val="accent3"/>
          </a:solidFill>
          <a:ln/>
        </p:spPr>
      </p:sp>
      <p:pic>
        <p:nvPicPr>
          <p:cNvPr id="9" name="Fixed timer icon 2" descr="Fixed timer icon 2">    </p:cNvPr>
          <p:cNvPicPr>
            <a:picLocks noChangeAspect="1"/>
          </p:cNvPicPr>
          <p:nvPr/>
        </p:nvPicPr>
        <p:blipFill>
          <a:blip r:embed="rId2"/>
          <a:stretch>
            <a:fillRect/>
          </a:stretch>
        </p:blipFill>
        <p:spPr>
          <a:xfrm>
            <a:off x="804672" y="2542032"/>
            <a:ext cx="146304" cy="146304"/>
          </a:xfrm>
          <a:prstGeom prst="rect">
            <a:avLst/>
          </a:prstGeom>
        </p:spPr>
      </p:pic>
      <p:sp>
        <p:nvSpPr>
          <p:cNvPr id="10" name="Fixed timer row 2"/>
          <p:cNvSpPr txBox="1"/>
          <p:nvPr/>
        </p:nvSpPr>
        <p:spPr>
          <a:xfrm>
            <a:off x="1143000" y="2487168"/>
            <a:ext cx="3108960" cy="274320"/>
          </a:xfrm>
          <a:prstGeom prst="rect">
            <a:avLst/>
          </a:prstGeom>
          <a:noFill/>
          <a:ln/>
        </p:spPr>
        <p:txBody>
          <a:bodyPr wrap="square" lIns="0" tIns="0" rIns="0" bIns="0" rtlCol="0" anchor="t"/>
          <a:lstStyle/>
          <a:p>
            <a:pPr indent="0" marL="0">
              <a:buNone/>
            </a:pPr>
            <a:r>
              <a:rPr lang="en-US" sz="1600" dirty="0">
                <a:solidFill>
                  <a:schemeClr val="tx1"/>
                </a:solidFill>
              </a:rPr>
              <a:t>Order never changes</a:t>
            </a:r>
            <a:endParaRPr lang="en-US" sz="1600" dirty="0"/>
          </a:p>
        </p:txBody>
      </p:sp>
      <p:sp>
        <p:nvSpPr>
          <p:cNvPr id="11" name="Fixed timer icon 3 circle"/>
          <p:cNvSpPr/>
          <p:nvPr/>
        </p:nvSpPr>
        <p:spPr>
          <a:xfrm>
            <a:off x="731520" y="2926080"/>
            <a:ext cx="292608" cy="292608"/>
          </a:xfrm>
          <a:prstGeom prst="ellipse">
            <a:avLst/>
          </a:prstGeom>
          <a:solidFill>
            <a:schemeClr val="accent3"/>
          </a:solidFill>
          <a:ln/>
        </p:spPr>
      </p:sp>
      <p:pic>
        <p:nvPicPr>
          <p:cNvPr id="12" name="Fixed timer icon 3" descr="Fixed timer icon 3">    </p:cNvPr>
          <p:cNvPicPr>
            <a:picLocks noChangeAspect="1"/>
          </p:cNvPicPr>
          <p:nvPr/>
        </p:nvPicPr>
        <p:blipFill>
          <a:blip r:embed="rId3"/>
          <a:stretch>
            <a:fillRect/>
          </a:stretch>
        </p:blipFill>
        <p:spPr>
          <a:xfrm>
            <a:off x="804672" y="2999232"/>
            <a:ext cx="146304" cy="146304"/>
          </a:xfrm>
          <a:prstGeom prst="rect">
            <a:avLst/>
          </a:prstGeom>
        </p:spPr>
      </p:pic>
      <p:sp>
        <p:nvSpPr>
          <p:cNvPr id="13" name="Fixed timer row 3"/>
          <p:cNvSpPr txBox="1"/>
          <p:nvPr/>
        </p:nvSpPr>
        <p:spPr>
          <a:xfrm>
            <a:off x="1143000" y="2944368"/>
            <a:ext cx="3108960" cy="274320"/>
          </a:xfrm>
          <a:prstGeom prst="rect">
            <a:avLst/>
          </a:prstGeom>
          <a:noFill/>
          <a:ln/>
        </p:spPr>
        <p:txBody>
          <a:bodyPr wrap="square" lIns="0" tIns="0" rIns="0" bIns="0" rtlCol="0" anchor="t"/>
          <a:lstStyle/>
          <a:p>
            <a:pPr indent="0" marL="0">
              <a:buNone/>
            </a:pPr>
            <a:r>
              <a:rPr lang="en-US" sz="1600" dirty="0">
                <a:solidFill>
                  <a:schemeClr val="tx1"/>
                </a:solidFill>
              </a:rPr>
              <a:t>Ignores the queue</a:t>
            </a:r>
            <a:endParaRPr lang="en-US" sz="1600" dirty="0"/>
          </a:p>
        </p:txBody>
      </p:sp>
      <p:sp>
        <p:nvSpPr>
          <p:cNvPr id="14" name="Fixed timer icon 4 circle"/>
          <p:cNvSpPr/>
          <p:nvPr/>
        </p:nvSpPr>
        <p:spPr>
          <a:xfrm>
            <a:off x="731520" y="3383280"/>
            <a:ext cx="292608" cy="292608"/>
          </a:xfrm>
          <a:prstGeom prst="ellipse">
            <a:avLst/>
          </a:prstGeom>
          <a:solidFill>
            <a:schemeClr val="accent3"/>
          </a:solidFill>
          <a:ln/>
        </p:spPr>
      </p:sp>
      <p:pic>
        <p:nvPicPr>
          <p:cNvPr id="15" name="Fixed timer icon 4" descr="Fixed timer icon 4">    </p:cNvPr>
          <p:cNvPicPr>
            <a:picLocks noChangeAspect="1"/>
          </p:cNvPicPr>
          <p:nvPr/>
        </p:nvPicPr>
        <p:blipFill>
          <a:blip r:embed="rId4"/>
          <a:stretch>
            <a:fillRect/>
          </a:stretch>
        </p:blipFill>
        <p:spPr>
          <a:xfrm>
            <a:off x="804672" y="3456432"/>
            <a:ext cx="146304" cy="146304"/>
          </a:xfrm>
          <a:prstGeom prst="rect">
            <a:avLst/>
          </a:prstGeom>
        </p:spPr>
      </p:pic>
      <p:sp>
        <p:nvSpPr>
          <p:cNvPr id="16" name="Fixed timer row 4"/>
          <p:cNvSpPr txBox="1"/>
          <p:nvPr/>
        </p:nvSpPr>
        <p:spPr>
          <a:xfrm>
            <a:off x="1143000" y="3401568"/>
            <a:ext cx="3108960" cy="274320"/>
          </a:xfrm>
          <a:prstGeom prst="rect">
            <a:avLst/>
          </a:prstGeom>
          <a:noFill/>
          <a:ln/>
        </p:spPr>
        <p:txBody>
          <a:bodyPr wrap="square" lIns="0" tIns="0" rIns="0" bIns="0" rtlCol="0" anchor="t"/>
          <a:lstStyle/>
          <a:p>
            <a:pPr indent="0" marL="0">
              <a:buNone/>
            </a:pPr>
            <a:r>
              <a:rPr lang="en-US" sz="1600" dirty="0">
                <a:solidFill>
                  <a:schemeClr val="tx1"/>
                </a:solidFill>
              </a:rPr>
              <a:t>Ambulance waits its turn</a:t>
            </a:r>
            <a:endParaRPr lang="en-US" sz="1600" dirty="0"/>
          </a:p>
        </p:txBody>
      </p:sp>
      <p:sp>
        <p:nvSpPr>
          <p:cNvPr id="17" name="Adaptive controller card"/>
          <p:cNvSpPr/>
          <p:nvPr/>
        </p:nvSpPr>
        <p:spPr>
          <a:xfrm>
            <a:off x="4663440" y="1280160"/>
            <a:ext cx="4023360" cy="2743200"/>
          </a:xfrm>
          <a:prstGeom prst="rect">
            <a:avLst/>
          </a:prstGeom>
          <a:solidFill>
            <a:schemeClr val="tx2"/>
          </a:solidFill>
          <a:ln/>
        </p:spPr>
      </p:sp>
      <p:sp>
        <p:nvSpPr>
          <p:cNvPr id="18" name="Adaptive controller heading"/>
          <p:cNvSpPr txBox="1"/>
          <p:nvPr/>
        </p:nvSpPr>
        <p:spPr>
          <a:xfrm>
            <a:off x="4937760" y="1417320"/>
            <a:ext cx="3474720" cy="411480"/>
          </a:xfrm>
          <a:prstGeom prst="rect">
            <a:avLst/>
          </a:prstGeom>
          <a:noFill/>
          <a:ln/>
        </p:spPr>
        <p:txBody>
          <a:bodyPr wrap="square" lIns="0" tIns="0" rIns="0" bIns="0" rtlCol="0" anchor="t"/>
          <a:lstStyle/>
          <a:p>
            <a:pPr indent="0" marL="0">
              <a:buNone/>
            </a:pPr>
            <a:r>
              <a:rPr lang="en-US" sz="2200" b="1" dirty="0">
                <a:solidFill>
                  <a:schemeClr val="bg1"/>
                </a:solidFill>
              </a:rPr>
              <a:t>Adaptive controller</a:t>
            </a:r>
            <a:endParaRPr lang="en-US" sz="2200" dirty="0"/>
          </a:p>
        </p:txBody>
      </p:sp>
      <p:sp>
        <p:nvSpPr>
          <p:cNvPr id="19" name="Adaptive controller icon 1 circle"/>
          <p:cNvSpPr/>
          <p:nvPr/>
        </p:nvSpPr>
        <p:spPr>
          <a:xfrm>
            <a:off x="4937760" y="2011680"/>
            <a:ext cx="292608" cy="292608"/>
          </a:xfrm>
          <a:prstGeom prst="ellipse">
            <a:avLst/>
          </a:prstGeom>
          <a:solidFill>
            <a:schemeClr val="accent6"/>
          </a:solidFill>
          <a:ln/>
        </p:spPr>
      </p:sp>
      <p:pic>
        <p:nvPicPr>
          <p:cNvPr id="20" name="Adaptive controller icon 1" descr="Adaptive controller icon 1">    </p:cNvPr>
          <p:cNvPicPr>
            <a:picLocks noChangeAspect="1"/>
          </p:cNvPicPr>
          <p:nvPr/>
        </p:nvPicPr>
        <p:blipFill>
          <a:blip r:embed="rId5"/>
          <a:stretch>
            <a:fillRect/>
          </a:stretch>
        </p:blipFill>
        <p:spPr>
          <a:xfrm>
            <a:off x="5010912" y="2084832"/>
            <a:ext cx="146304" cy="146304"/>
          </a:xfrm>
          <a:prstGeom prst="rect">
            <a:avLst/>
          </a:prstGeom>
        </p:spPr>
      </p:pic>
      <p:sp>
        <p:nvSpPr>
          <p:cNvPr id="21" name="Adaptive controller row 1"/>
          <p:cNvSpPr txBox="1"/>
          <p:nvPr/>
        </p:nvSpPr>
        <p:spPr>
          <a:xfrm>
            <a:off x="5349240" y="2029968"/>
            <a:ext cx="3108960" cy="274320"/>
          </a:xfrm>
          <a:prstGeom prst="rect">
            <a:avLst/>
          </a:prstGeom>
          <a:noFill/>
          <a:ln/>
        </p:spPr>
        <p:txBody>
          <a:bodyPr wrap="square" lIns="0" tIns="0" rIns="0" bIns="0" rtlCol="0" anchor="t"/>
          <a:lstStyle/>
          <a:p>
            <a:pPr indent="0" marL="0">
              <a:buNone/>
            </a:pPr>
            <a:r>
              <a:rPr lang="en-US" sz="1600" dirty="0">
                <a:solidFill>
                  <a:schemeClr val="bg1"/>
                </a:solidFill>
              </a:rPr>
              <a:t>Counts cars waiting on each road</a:t>
            </a:r>
            <a:endParaRPr lang="en-US" sz="1600" dirty="0"/>
          </a:p>
        </p:txBody>
      </p:sp>
      <p:sp>
        <p:nvSpPr>
          <p:cNvPr id="22" name="Adaptive controller icon 2 circle"/>
          <p:cNvSpPr/>
          <p:nvPr/>
        </p:nvSpPr>
        <p:spPr>
          <a:xfrm>
            <a:off x="4937760" y="2468880"/>
            <a:ext cx="292608" cy="292608"/>
          </a:xfrm>
          <a:prstGeom prst="ellipse">
            <a:avLst/>
          </a:prstGeom>
          <a:solidFill>
            <a:schemeClr val="accent6"/>
          </a:solidFill>
          <a:ln/>
        </p:spPr>
      </p:sp>
      <p:pic>
        <p:nvPicPr>
          <p:cNvPr id="23" name="Adaptive controller icon 2" descr="Adaptive controller icon 2">    </p:cNvPr>
          <p:cNvPicPr>
            <a:picLocks noChangeAspect="1"/>
          </p:cNvPicPr>
          <p:nvPr/>
        </p:nvPicPr>
        <p:blipFill>
          <a:blip r:embed="rId6"/>
          <a:stretch>
            <a:fillRect/>
          </a:stretch>
        </p:blipFill>
        <p:spPr>
          <a:xfrm>
            <a:off x="5010912" y="2542032"/>
            <a:ext cx="146304" cy="146304"/>
          </a:xfrm>
          <a:prstGeom prst="rect">
            <a:avLst/>
          </a:prstGeom>
        </p:spPr>
      </p:pic>
      <p:sp>
        <p:nvSpPr>
          <p:cNvPr id="24" name="Adaptive controller row 2"/>
          <p:cNvSpPr txBox="1"/>
          <p:nvPr/>
        </p:nvSpPr>
        <p:spPr>
          <a:xfrm>
            <a:off x="5349240" y="2487168"/>
            <a:ext cx="3108960" cy="274320"/>
          </a:xfrm>
          <a:prstGeom prst="rect">
            <a:avLst/>
          </a:prstGeom>
          <a:noFill/>
          <a:ln/>
        </p:spPr>
        <p:txBody>
          <a:bodyPr wrap="square" lIns="0" tIns="0" rIns="0" bIns="0" rtlCol="0" anchor="t"/>
          <a:lstStyle/>
          <a:p>
            <a:pPr indent="0" marL="0">
              <a:buNone/>
            </a:pPr>
            <a:r>
              <a:rPr lang="en-US" sz="1600" dirty="0">
                <a:solidFill>
                  <a:schemeClr val="bg1"/>
                </a:solidFill>
              </a:rPr>
              <a:t>Gives green to the highest score</a:t>
            </a:r>
            <a:endParaRPr lang="en-US" sz="1600" dirty="0"/>
          </a:p>
        </p:txBody>
      </p:sp>
      <p:sp>
        <p:nvSpPr>
          <p:cNvPr id="25" name="Adaptive controller icon 3 circle"/>
          <p:cNvSpPr/>
          <p:nvPr/>
        </p:nvSpPr>
        <p:spPr>
          <a:xfrm>
            <a:off x="4937760" y="2926080"/>
            <a:ext cx="292608" cy="292608"/>
          </a:xfrm>
          <a:prstGeom prst="ellipse">
            <a:avLst/>
          </a:prstGeom>
          <a:solidFill>
            <a:schemeClr val="accent6"/>
          </a:solidFill>
          <a:ln/>
        </p:spPr>
      </p:sp>
      <p:pic>
        <p:nvPicPr>
          <p:cNvPr id="26" name="Adaptive controller icon 3" descr="Adaptive controller icon 3">    </p:cNvPr>
          <p:cNvPicPr>
            <a:picLocks noChangeAspect="1"/>
          </p:cNvPicPr>
          <p:nvPr/>
        </p:nvPicPr>
        <p:blipFill>
          <a:blip r:embed="rId7"/>
          <a:stretch>
            <a:fillRect/>
          </a:stretch>
        </p:blipFill>
        <p:spPr>
          <a:xfrm>
            <a:off x="5010912" y="2999232"/>
            <a:ext cx="146304" cy="146304"/>
          </a:xfrm>
          <a:prstGeom prst="rect">
            <a:avLst/>
          </a:prstGeom>
        </p:spPr>
      </p:pic>
      <p:sp>
        <p:nvSpPr>
          <p:cNvPr id="27" name="Adaptive controller row 3"/>
          <p:cNvSpPr txBox="1"/>
          <p:nvPr/>
        </p:nvSpPr>
        <p:spPr>
          <a:xfrm>
            <a:off x="5349240" y="2944368"/>
            <a:ext cx="3108960" cy="274320"/>
          </a:xfrm>
          <a:prstGeom prst="rect">
            <a:avLst/>
          </a:prstGeom>
          <a:noFill/>
          <a:ln/>
        </p:spPr>
        <p:txBody>
          <a:bodyPr wrap="square" lIns="0" tIns="0" rIns="0" bIns="0" rtlCol="0" anchor="t"/>
          <a:lstStyle/>
          <a:p>
            <a:pPr indent="0" marL="0">
              <a:buNone/>
            </a:pPr>
            <a:r>
              <a:rPr lang="en-US" sz="1600" dirty="0">
                <a:solidFill>
                  <a:schemeClr val="bg1"/>
                </a:solidFill>
              </a:rPr>
              <a:t>Green length follows the queue</a:t>
            </a:r>
            <a:endParaRPr lang="en-US" sz="1600" dirty="0"/>
          </a:p>
        </p:txBody>
      </p:sp>
      <p:sp>
        <p:nvSpPr>
          <p:cNvPr id="28" name="Adaptive controller icon 4 circle"/>
          <p:cNvSpPr/>
          <p:nvPr/>
        </p:nvSpPr>
        <p:spPr>
          <a:xfrm>
            <a:off x="4937760" y="3383280"/>
            <a:ext cx="292608" cy="292608"/>
          </a:xfrm>
          <a:prstGeom prst="ellipse">
            <a:avLst/>
          </a:prstGeom>
          <a:solidFill>
            <a:schemeClr val="accent6"/>
          </a:solidFill>
          <a:ln/>
        </p:spPr>
      </p:sp>
      <p:pic>
        <p:nvPicPr>
          <p:cNvPr id="29" name="Adaptive controller icon 4" descr="Adaptive controller icon 4">    </p:cNvPr>
          <p:cNvPicPr>
            <a:picLocks noChangeAspect="1"/>
          </p:cNvPicPr>
          <p:nvPr/>
        </p:nvPicPr>
        <p:blipFill>
          <a:blip r:embed="rId8"/>
          <a:stretch>
            <a:fillRect/>
          </a:stretch>
        </p:blipFill>
        <p:spPr>
          <a:xfrm>
            <a:off x="5010912" y="3456432"/>
            <a:ext cx="146304" cy="146304"/>
          </a:xfrm>
          <a:prstGeom prst="rect">
            <a:avLst/>
          </a:prstGeom>
        </p:spPr>
      </p:pic>
      <p:sp>
        <p:nvSpPr>
          <p:cNvPr id="30" name="Adaptive controller row 4"/>
          <p:cNvSpPr txBox="1"/>
          <p:nvPr/>
        </p:nvSpPr>
        <p:spPr>
          <a:xfrm>
            <a:off x="5349240" y="3401568"/>
            <a:ext cx="3108960" cy="274320"/>
          </a:xfrm>
          <a:prstGeom prst="rect">
            <a:avLst/>
          </a:prstGeom>
          <a:noFill/>
          <a:ln/>
        </p:spPr>
        <p:txBody>
          <a:bodyPr wrap="square" lIns="0" tIns="0" rIns="0" bIns="0" rtlCol="0" anchor="t"/>
          <a:lstStyle/>
          <a:p>
            <a:pPr indent="0" marL="0">
              <a:buNone/>
            </a:pPr>
            <a:r>
              <a:rPr lang="en-US" sz="1600" dirty="0">
                <a:solidFill>
                  <a:schemeClr val="bg1"/>
                </a:solidFill>
              </a:rPr>
              <a:t>Clears the way for ambulances</a:t>
            </a:r>
            <a:endParaRPr lang="en-US" sz="1600" dirty="0"/>
          </a:p>
        </p:txBody>
      </p:sp>
      <p:sp>
        <p:nvSpPr>
          <p:cNvPr id="31" name="Takeaway"/>
          <p:cNvSpPr txBox="1"/>
          <p:nvPr/>
        </p:nvSpPr>
        <p:spPr>
          <a:xfrm>
            <a:off x="457200" y="4251960"/>
            <a:ext cx="7680960" cy="365760"/>
          </a:xfrm>
          <a:prstGeom prst="rect">
            <a:avLst/>
          </a:prstGeom>
          <a:noFill/>
          <a:ln/>
        </p:spPr>
        <p:txBody>
          <a:bodyPr wrap="square" lIns="0" tIns="0" rIns="0" bIns="0" rtlCol="0" anchor="t"/>
          <a:lstStyle/>
          <a:p>
            <a:pPr indent="0" marL="0">
              <a:buNone/>
            </a:pPr>
            <a:r>
              <a:rPr lang="en-US" sz="1800" b="1" dirty="0">
                <a:solidFill>
                  <a:schemeClr val="accent1"/>
                </a:solidFill>
              </a:rPr>
              <a:t>Same cars, same junction. Only the signal logic differs.</a:t>
            </a:r>
            <a:endParaRPr lang="en-US" sz="18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The prototype at a glance</a:t>
            </a:r>
            <a:endParaRPr lang="en-US" sz="3400" dirty="0"/>
          </a:p>
        </p:txBody>
      </p:sp>
      <p:pic>
        <p:nvPicPr>
          <p:cNvPr id="3" name="Side by side screenshot" descr="Fixed timer and adaptive controller junctions side by side in 3D">    </p:cNvPr>
          <p:cNvPicPr>
            <a:picLocks noChangeAspect="1"/>
          </p:cNvPicPr>
          <p:nvPr/>
        </p:nvPicPr>
        <p:blipFill>
          <a:blip r:embed="rId1"/>
          <a:stretch>
            <a:fillRect/>
          </a:stretch>
        </p:blipFill>
        <p:spPr>
          <a:xfrm>
            <a:off x="457200" y="1188720"/>
            <a:ext cx="7863840" cy="3218688"/>
          </a:xfrm>
          <a:prstGeom prst="rect">
            <a:avLst/>
          </a:prstGeom>
        </p:spPr>
      </p:pic>
      <p:sp>
        <p:nvSpPr>
          <p:cNvPr id="4" name="Screenshot caption"/>
          <p:cNvSpPr txBox="1"/>
          <p:nvPr/>
        </p:nvSpPr>
        <p:spPr>
          <a:xfrm>
            <a:off x="457200" y="4480560"/>
            <a:ext cx="7589520" cy="457200"/>
          </a:xfrm>
          <a:prstGeom prst="rect">
            <a:avLst/>
          </a:prstGeom>
          <a:noFill/>
          <a:ln/>
        </p:spPr>
        <p:txBody>
          <a:bodyPr wrap="square" lIns="0" tIns="0" rIns="0" bIns="0" rtlCol="0" anchor="t"/>
          <a:lstStyle/>
          <a:p>
            <a:pPr indent="0" marL="0">
              <a:buNone/>
            </a:pPr>
            <a:r>
              <a:rPr lang="en-US" sz="1400" dirty="0">
                <a:solidFill>
                  <a:schemeClr val="tx1"/>
                </a:solidFill>
              </a:rPr>
              <a:t>One junction: roads A (north), B (east), C (south), D (west). The number on each road is its queue.</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Five rules decide every green</a:t>
            </a:r>
            <a:endParaRPr lang="en-US" sz="3400" dirty="0"/>
          </a:p>
        </p:txBody>
      </p:sp>
      <p:sp>
        <p:nvSpPr>
          <p:cNvPr id="3" name="Rule card 1"/>
          <p:cNvSpPr/>
          <p:nvPr/>
        </p:nvSpPr>
        <p:spPr>
          <a:xfrm>
            <a:off x="457200" y="1234440"/>
            <a:ext cx="1554480" cy="2057400"/>
          </a:xfrm>
          <a:prstGeom prst="rect">
            <a:avLst/>
          </a:prstGeom>
          <a:solidFill>
            <a:schemeClr val="bg2"/>
          </a:solidFill>
          <a:ln/>
        </p:spPr>
      </p:sp>
      <p:sp>
        <p:nvSpPr>
          <p:cNvPr id="4" name="Rule icon 1 circle"/>
          <p:cNvSpPr/>
          <p:nvPr/>
        </p:nvSpPr>
        <p:spPr>
          <a:xfrm>
            <a:off x="594360" y="1371600"/>
            <a:ext cx="411480" cy="411480"/>
          </a:xfrm>
          <a:prstGeom prst="ellipse">
            <a:avLst/>
          </a:prstGeom>
          <a:solidFill>
            <a:schemeClr val="accent1"/>
          </a:solidFill>
          <a:ln/>
        </p:spPr>
      </p:sp>
      <p:pic>
        <p:nvPicPr>
          <p:cNvPr id="5" name="Rule icon 1" descr="Rule icon 1">    </p:cNvPr>
          <p:cNvPicPr>
            <a:picLocks noChangeAspect="1"/>
          </p:cNvPicPr>
          <p:nvPr/>
        </p:nvPicPr>
        <p:blipFill>
          <a:blip r:embed="rId1"/>
          <a:stretch>
            <a:fillRect/>
          </a:stretch>
        </p:blipFill>
        <p:spPr>
          <a:xfrm>
            <a:off x="697230" y="1474470"/>
            <a:ext cx="205740" cy="205740"/>
          </a:xfrm>
          <a:prstGeom prst="rect">
            <a:avLst/>
          </a:prstGeom>
        </p:spPr>
      </p:pic>
      <p:sp>
        <p:nvSpPr>
          <p:cNvPr id="6" name="Rule name 1"/>
          <p:cNvSpPr txBox="1"/>
          <p:nvPr/>
        </p:nvSpPr>
        <p:spPr>
          <a:xfrm>
            <a:off x="594360" y="1901952"/>
            <a:ext cx="1325880" cy="292608"/>
          </a:xfrm>
          <a:prstGeom prst="rect">
            <a:avLst/>
          </a:prstGeom>
          <a:noFill/>
          <a:ln/>
        </p:spPr>
        <p:txBody>
          <a:bodyPr wrap="square" lIns="0" tIns="0" rIns="0" bIns="0" rtlCol="0" anchor="t"/>
          <a:lstStyle/>
          <a:p>
            <a:pPr indent="0" marL="0">
              <a:buNone/>
            </a:pPr>
            <a:r>
              <a:rPr lang="en-US" sz="1600" b="1" dirty="0">
                <a:solidFill>
                  <a:schemeClr val="tx1"/>
                </a:solidFill>
              </a:rPr>
              <a:t>Clear</a:t>
            </a:r>
            <a:endParaRPr lang="en-US" sz="1600" dirty="0"/>
          </a:p>
        </p:txBody>
      </p:sp>
      <p:sp>
        <p:nvSpPr>
          <p:cNvPr id="7" name="Rule text 1"/>
          <p:cNvSpPr txBox="1"/>
          <p:nvPr/>
        </p:nvSpPr>
        <p:spPr>
          <a:xfrm>
            <a:off x="594360" y="2212848"/>
            <a:ext cx="1325880" cy="1005840"/>
          </a:xfrm>
          <a:prstGeom prst="rect">
            <a:avLst/>
          </a:prstGeom>
          <a:noFill/>
          <a:ln/>
        </p:spPr>
        <p:txBody>
          <a:bodyPr wrap="square" lIns="0" tIns="0" rIns="0" bIns="0" rtlCol="0" anchor="t"/>
          <a:lstStyle/>
          <a:p>
            <a:pPr indent="0" marL="0">
              <a:buNone/>
            </a:pPr>
            <a:r>
              <a:rPr lang="en-US" sz="1400" dirty="0">
                <a:solidFill>
                  <a:schemeClr val="accent4"/>
                </a:solidFill>
              </a:rPr>
              <a:t>All red for 4 s so cars inside can leave.</a:t>
            </a:r>
            <a:endParaRPr lang="en-US" sz="1400" dirty="0"/>
          </a:p>
        </p:txBody>
      </p:sp>
      <p:sp>
        <p:nvSpPr>
          <p:cNvPr id="8" name="Rule card 2"/>
          <p:cNvSpPr/>
          <p:nvPr/>
        </p:nvSpPr>
        <p:spPr>
          <a:xfrm>
            <a:off x="2130552" y="1234440"/>
            <a:ext cx="1554480" cy="2057400"/>
          </a:xfrm>
          <a:prstGeom prst="rect">
            <a:avLst/>
          </a:prstGeom>
          <a:solidFill>
            <a:schemeClr val="bg2"/>
          </a:solidFill>
          <a:ln/>
        </p:spPr>
      </p:sp>
      <p:sp>
        <p:nvSpPr>
          <p:cNvPr id="9" name="Rule icon 2 circle"/>
          <p:cNvSpPr/>
          <p:nvPr/>
        </p:nvSpPr>
        <p:spPr>
          <a:xfrm>
            <a:off x="2267712" y="1371600"/>
            <a:ext cx="411480" cy="411480"/>
          </a:xfrm>
          <a:prstGeom prst="ellipse">
            <a:avLst/>
          </a:prstGeom>
          <a:solidFill>
            <a:schemeClr val="accent1"/>
          </a:solidFill>
          <a:ln/>
        </p:spPr>
      </p:sp>
      <p:pic>
        <p:nvPicPr>
          <p:cNvPr id="10" name="Rule icon 2" descr="Rule icon 2">    </p:cNvPr>
          <p:cNvPicPr>
            <a:picLocks noChangeAspect="1"/>
          </p:cNvPicPr>
          <p:nvPr/>
        </p:nvPicPr>
        <p:blipFill>
          <a:blip r:embed="rId2"/>
          <a:stretch>
            <a:fillRect/>
          </a:stretch>
        </p:blipFill>
        <p:spPr>
          <a:xfrm>
            <a:off x="2370582" y="1474470"/>
            <a:ext cx="205740" cy="205740"/>
          </a:xfrm>
          <a:prstGeom prst="rect">
            <a:avLst/>
          </a:prstGeom>
        </p:spPr>
      </p:pic>
      <p:sp>
        <p:nvSpPr>
          <p:cNvPr id="11" name="Rule name 2"/>
          <p:cNvSpPr txBox="1"/>
          <p:nvPr/>
        </p:nvSpPr>
        <p:spPr>
          <a:xfrm>
            <a:off x="2267712" y="1901952"/>
            <a:ext cx="1325880" cy="292608"/>
          </a:xfrm>
          <a:prstGeom prst="rect">
            <a:avLst/>
          </a:prstGeom>
          <a:noFill/>
          <a:ln/>
        </p:spPr>
        <p:txBody>
          <a:bodyPr wrap="square" lIns="0" tIns="0" rIns="0" bIns="0" rtlCol="0" anchor="t"/>
          <a:lstStyle/>
          <a:p>
            <a:pPr indent="0" marL="0">
              <a:buNone/>
            </a:pPr>
            <a:r>
              <a:rPr lang="en-US" sz="1600" b="1" dirty="0">
                <a:solidFill>
                  <a:schemeClr val="tx1"/>
                </a:solidFill>
              </a:rPr>
              <a:t>Score</a:t>
            </a:r>
            <a:endParaRPr lang="en-US" sz="1600" dirty="0"/>
          </a:p>
        </p:txBody>
      </p:sp>
      <p:sp>
        <p:nvSpPr>
          <p:cNvPr id="12" name="Rule text 2"/>
          <p:cNvSpPr txBox="1"/>
          <p:nvPr/>
        </p:nvSpPr>
        <p:spPr>
          <a:xfrm>
            <a:off x="2267712" y="2212848"/>
            <a:ext cx="1325880" cy="1005840"/>
          </a:xfrm>
          <a:prstGeom prst="rect">
            <a:avLst/>
          </a:prstGeom>
          <a:noFill/>
          <a:ln/>
        </p:spPr>
        <p:txBody>
          <a:bodyPr wrap="square" lIns="0" tIns="0" rIns="0" bIns="0" rtlCol="0" anchor="t"/>
          <a:lstStyle/>
          <a:p>
            <a:pPr indent="0" marL="0">
              <a:buNone/>
            </a:pPr>
            <a:r>
              <a:rPr lang="en-US" sz="1400" dirty="0">
                <a:solidFill>
                  <a:schemeClr val="accent4"/>
                </a:solidFill>
              </a:rPr>
              <a:t>Queue plus 0.2 × seconds since last green.</a:t>
            </a:r>
            <a:endParaRPr lang="en-US" sz="1400" dirty="0"/>
          </a:p>
        </p:txBody>
      </p:sp>
      <p:sp>
        <p:nvSpPr>
          <p:cNvPr id="13" name="Rule card 3"/>
          <p:cNvSpPr/>
          <p:nvPr/>
        </p:nvSpPr>
        <p:spPr>
          <a:xfrm>
            <a:off x="3803904" y="1234440"/>
            <a:ext cx="1554480" cy="2057400"/>
          </a:xfrm>
          <a:prstGeom prst="rect">
            <a:avLst/>
          </a:prstGeom>
          <a:solidFill>
            <a:schemeClr val="bg2"/>
          </a:solidFill>
          <a:ln/>
        </p:spPr>
      </p:sp>
      <p:sp>
        <p:nvSpPr>
          <p:cNvPr id="14" name="Rule icon 3 circle"/>
          <p:cNvSpPr/>
          <p:nvPr/>
        </p:nvSpPr>
        <p:spPr>
          <a:xfrm>
            <a:off x="3941064" y="1371600"/>
            <a:ext cx="411480" cy="411480"/>
          </a:xfrm>
          <a:prstGeom prst="ellipse">
            <a:avLst/>
          </a:prstGeom>
          <a:solidFill>
            <a:schemeClr val="accent1"/>
          </a:solidFill>
          <a:ln/>
        </p:spPr>
      </p:sp>
      <p:pic>
        <p:nvPicPr>
          <p:cNvPr id="15" name="Rule icon 3" descr="Rule icon 3">    </p:cNvPr>
          <p:cNvPicPr>
            <a:picLocks noChangeAspect="1"/>
          </p:cNvPicPr>
          <p:nvPr/>
        </p:nvPicPr>
        <p:blipFill>
          <a:blip r:embed="rId3"/>
          <a:stretch>
            <a:fillRect/>
          </a:stretch>
        </p:blipFill>
        <p:spPr>
          <a:xfrm>
            <a:off x="4043934" y="1474470"/>
            <a:ext cx="205740" cy="205740"/>
          </a:xfrm>
          <a:prstGeom prst="rect">
            <a:avLst/>
          </a:prstGeom>
        </p:spPr>
      </p:pic>
      <p:sp>
        <p:nvSpPr>
          <p:cNvPr id="16" name="Rule name 3"/>
          <p:cNvSpPr txBox="1"/>
          <p:nvPr/>
        </p:nvSpPr>
        <p:spPr>
          <a:xfrm>
            <a:off x="3941064" y="1901952"/>
            <a:ext cx="1325880" cy="292608"/>
          </a:xfrm>
          <a:prstGeom prst="rect">
            <a:avLst/>
          </a:prstGeom>
          <a:noFill/>
          <a:ln/>
        </p:spPr>
        <p:txBody>
          <a:bodyPr wrap="square" lIns="0" tIns="0" rIns="0" bIns="0" rtlCol="0" anchor="t"/>
          <a:lstStyle/>
          <a:p>
            <a:pPr indent="0" marL="0">
              <a:buNone/>
            </a:pPr>
            <a:r>
              <a:rPr lang="en-US" sz="1600" b="1" dirty="0">
                <a:solidFill>
                  <a:schemeClr val="tx1"/>
                </a:solidFill>
              </a:rPr>
              <a:t>Size</a:t>
            </a:r>
            <a:endParaRPr lang="en-US" sz="1600" dirty="0"/>
          </a:p>
        </p:txBody>
      </p:sp>
      <p:sp>
        <p:nvSpPr>
          <p:cNvPr id="17" name="Rule text 3"/>
          <p:cNvSpPr txBox="1"/>
          <p:nvPr/>
        </p:nvSpPr>
        <p:spPr>
          <a:xfrm>
            <a:off x="3941064" y="2212848"/>
            <a:ext cx="1325880" cy="1005840"/>
          </a:xfrm>
          <a:prstGeom prst="rect">
            <a:avLst/>
          </a:prstGeom>
          <a:noFill/>
          <a:ln/>
        </p:spPr>
        <p:txBody>
          <a:bodyPr wrap="square" lIns="0" tIns="0" rIns="0" bIns="0" rtlCol="0" anchor="t"/>
          <a:lstStyle/>
          <a:p>
            <a:pPr indent="0" marL="0">
              <a:buNone/>
            </a:pPr>
            <a:r>
              <a:rPr lang="en-US" sz="1400" dirty="0">
                <a:solidFill>
                  <a:schemeClr val="accent4"/>
                </a:solidFill>
              </a:rPr>
              <a:t>2 s per queued car plus 4 s, held to 8 to 45 s.</a:t>
            </a:r>
            <a:endParaRPr lang="en-US" sz="1400" dirty="0"/>
          </a:p>
        </p:txBody>
      </p:sp>
      <p:sp>
        <p:nvSpPr>
          <p:cNvPr id="18" name="Rule card 4"/>
          <p:cNvSpPr/>
          <p:nvPr/>
        </p:nvSpPr>
        <p:spPr>
          <a:xfrm>
            <a:off x="5477256" y="1234440"/>
            <a:ext cx="1554480" cy="2057400"/>
          </a:xfrm>
          <a:prstGeom prst="rect">
            <a:avLst/>
          </a:prstGeom>
          <a:solidFill>
            <a:schemeClr val="bg2"/>
          </a:solidFill>
          <a:ln/>
        </p:spPr>
      </p:sp>
      <p:sp>
        <p:nvSpPr>
          <p:cNvPr id="19" name="Rule icon 4 circle"/>
          <p:cNvSpPr/>
          <p:nvPr/>
        </p:nvSpPr>
        <p:spPr>
          <a:xfrm>
            <a:off x="5614416" y="1371600"/>
            <a:ext cx="411480" cy="411480"/>
          </a:xfrm>
          <a:prstGeom prst="ellipse">
            <a:avLst/>
          </a:prstGeom>
          <a:solidFill>
            <a:schemeClr val="accent1"/>
          </a:solidFill>
          <a:ln/>
        </p:spPr>
      </p:sp>
      <p:pic>
        <p:nvPicPr>
          <p:cNvPr id="20" name="Rule icon 4" descr="Rule icon 4">    </p:cNvPr>
          <p:cNvPicPr>
            <a:picLocks noChangeAspect="1"/>
          </p:cNvPicPr>
          <p:nvPr/>
        </p:nvPicPr>
        <p:blipFill>
          <a:blip r:embed="rId4"/>
          <a:stretch>
            <a:fillRect/>
          </a:stretch>
        </p:blipFill>
        <p:spPr>
          <a:xfrm>
            <a:off x="5717286" y="1474470"/>
            <a:ext cx="205740" cy="205740"/>
          </a:xfrm>
          <a:prstGeom prst="rect">
            <a:avLst/>
          </a:prstGeom>
        </p:spPr>
      </p:pic>
      <p:sp>
        <p:nvSpPr>
          <p:cNvPr id="21" name="Rule name 4"/>
          <p:cNvSpPr txBox="1"/>
          <p:nvPr/>
        </p:nvSpPr>
        <p:spPr>
          <a:xfrm>
            <a:off x="5614416" y="1901952"/>
            <a:ext cx="1325880" cy="292608"/>
          </a:xfrm>
          <a:prstGeom prst="rect">
            <a:avLst/>
          </a:prstGeom>
          <a:noFill/>
          <a:ln/>
        </p:spPr>
        <p:txBody>
          <a:bodyPr wrap="square" lIns="0" tIns="0" rIns="0" bIns="0" rtlCol="0" anchor="t"/>
          <a:lstStyle/>
          <a:p>
            <a:pPr indent="0" marL="0">
              <a:buNone/>
            </a:pPr>
            <a:r>
              <a:rPr lang="en-US" sz="1600" b="1" dirty="0">
                <a:solidFill>
                  <a:schemeClr val="tx1"/>
                </a:solidFill>
              </a:rPr>
              <a:t>End early</a:t>
            </a:r>
            <a:endParaRPr lang="en-US" sz="1600" dirty="0"/>
          </a:p>
        </p:txBody>
      </p:sp>
      <p:sp>
        <p:nvSpPr>
          <p:cNvPr id="22" name="Rule text 4"/>
          <p:cNvSpPr txBox="1"/>
          <p:nvPr/>
        </p:nvSpPr>
        <p:spPr>
          <a:xfrm>
            <a:off x="5614416" y="2212848"/>
            <a:ext cx="1325880" cy="1005840"/>
          </a:xfrm>
          <a:prstGeom prst="rect">
            <a:avLst/>
          </a:prstGeom>
          <a:noFill/>
          <a:ln/>
        </p:spPr>
        <p:txBody>
          <a:bodyPr wrap="square" lIns="0" tIns="0" rIns="0" bIns="0" rtlCol="0" anchor="t"/>
          <a:lstStyle/>
          <a:p>
            <a:pPr indent="0" marL="0">
              <a:buNone/>
            </a:pPr>
            <a:r>
              <a:rPr lang="en-US" sz="1400" dirty="0">
                <a:solidFill>
                  <a:schemeClr val="accent4"/>
                </a:solidFill>
              </a:rPr>
              <a:t>If the queue empties after 5 s, move on.</a:t>
            </a:r>
            <a:endParaRPr lang="en-US" sz="1400" dirty="0"/>
          </a:p>
        </p:txBody>
      </p:sp>
      <p:sp>
        <p:nvSpPr>
          <p:cNvPr id="23" name="Rule card 5"/>
          <p:cNvSpPr/>
          <p:nvPr/>
        </p:nvSpPr>
        <p:spPr>
          <a:xfrm>
            <a:off x="7150608" y="1234440"/>
            <a:ext cx="1554480" cy="2057400"/>
          </a:xfrm>
          <a:prstGeom prst="rect">
            <a:avLst/>
          </a:prstGeom>
          <a:solidFill>
            <a:schemeClr val="bg2"/>
          </a:solidFill>
          <a:ln/>
        </p:spPr>
      </p:sp>
      <p:sp>
        <p:nvSpPr>
          <p:cNvPr id="24" name="Rule icon 5 circle"/>
          <p:cNvSpPr/>
          <p:nvPr/>
        </p:nvSpPr>
        <p:spPr>
          <a:xfrm>
            <a:off x="7287768" y="1371600"/>
            <a:ext cx="411480" cy="411480"/>
          </a:xfrm>
          <a:prstGeom prst="ellipse">
            <a:avLst/>
          </a:prstGeom>
          <a:solidFill>
            <a:schemeClr val="accent1"/>
          </a:solidFill>
          <a:ln/>
        </p:spPr>
      </p:sp>
      <p:pic>
        <p:nvPicPr>
          <p:cNvPr id="25" name="Rule icon 5" descr="Rule icon 5">    </p:cNvPr>
          <p:cNvPicPr>
            <a:picLocks noChangeAspect="1"/>
          </p:cNvPicPr>
          <p:nvPr/>
        </p:nvPicPr>
        <p:blipFill>
          <a:blip r:embed="rId5"/>
          <a:stretch>
            <a:fillRect/>
          </a:stretch>
        </p:blipFill>
        <p:spPr>
          <a:xfrm>
            <a:off x="7390638" y="1474470"/>
            <a:ext cx="205740" cy="205740"/>
          </a:xfrm>
          <a:prstGeom prst="rect">
            <a:avLst/>
          </a:prstGeom>
        </p:spPr>
      </p:pic>
      <p:sp>
        <p:nvSpPr>
          <p:cNvPr id="26" name="Rule name 5"/>
          <p:cNvSpPr txBox="1"/>
          <p:nvPr/>
        </p:nvSpPr>
        <p:spPr>
          <a:xfrm>
            <a:off x="7287768" y="1901952"/>
            <a:ext cx="1325880" cy="292608"/>
          </a:xfrm>
          <a:prstGeom prst="rect">
            <a:avLst/>
          </a:prstGeom>
          <a:noFill/>
          <a:ln/>
        </p:spPr>
        <p:txBody>
          <a:bodyPr wrap="square" lIns="0" tIns="0" rIns="0" bIns="0" rtlCol="0" anchor="t"/>
          <a:lstStyle/>
          <a:p>
            <a:pPr indent="0" marL="0">
              <a:buNone/>
            </a:pPr>
            <a:r>
              <a:rPr lang="en-US" sz="1600" b="1" dirty="0">
                <a:solidFill>
                  <a:schemeClr val="tx1"/>
                </a:solidFill>
              </a:rPr>
              <a:t>Give way</a:t>
            </a:r>
            <a:endParaRPr lang="en-US" sz="1600" dirty="0"/>
          </a:p>
        </p:txBody>
      </p:sp>
      <p:sp>
        <p:nvSpPr>
          <p:cNvPr id="27" name="Rule text 5"/>
          <p:cNvSpPr txBox="1"/>
          <p:nvPr/>
        </p:nvSpPr>
        <p:spPr>
          <a:xfrm>
            <a:off x="7287768" y="2212848"/>
            <a:ext cx="1325880" cy="1005840"/>
          </a:xfrm>
          <a:prstGeom prst="rect">
            <a:avLst/>
          </a:prstGeom>
          <a:noFill/>
          <a:ln/>
        </p:spPr>
        <p:txBody>
          <a:bodyPr wrap="square" lIns="0" tIns="0" rIns="0" bIns="0" rtlCol="0" anchor="t"/>
          <a:lstStyle/>
          <a:p>
            <a:pPr indent="0" marL="0">
              <a:buNone/>
            </a:pPr>
            <a:r>
              <a:rPr lang="en-US" sz="1400" dirty="0">
                <a:solidFill>
                  <a:schemeClr val="accent4"/>
                </a:solidFill>
              </a:rPr>
              <a:t>An ambulance gets green after a clearance.</a:t>
            </a:r>
            <a:endParaRPr lang="en-US" sz="1400" dirty="0"/>
          </a:p>
        </p:txBody>
      </p:sp>
      <p:sp>
        <p:nvSpPr>
          <p:cNvPr id="28" name="Example card"/>
          <p:cNvSpPr/>
          <p:nvPr/>
        </p:nvSpPr>
        <p:spPr>
          <a:xfrm>
            <a:off x="457200" y="3474720"/>
            <a:ext cx="8229600" cy="1097280"/>
          </a:xfrm>
          <a:prstGeom prst="rect">
            <a:avLst/>
          </a:prstGeom>
          <a:solidFill>
            <a:schemeClr val="tx2"/>
          </a:solidFill>
          <a:ln/>
        </p:spPr>
      </p:sp>
      <p:sp>
        <p:nvSpPr>
          <p:cNvPr id="29" name="Example label"/>
          <p:cNvSpPr txBox="1"/>
          <p:nvPr/>
        </p:nvSpPr>
        <p:spPr>
          <a:xfrm>
            <a:off x="685800" y="3566160"/>
            <a:ext cx="2743200" cy="274320"/>
          </a:xfrm>
          <a:prstGeom prst="rect">
            <a:avLst/>
          </a:prstGeom>
          <a:noFill/>
          <a:ln/>
        </p:spPr>
        <p:txBody>
          <a:bodyPr wrap="square" lIns="0" tIns="0" rIns="0" bIns="0" rtlCol="0" anchor="t"/>
          <a:lstStyle/>
          <a:p>
            <a:pPr indent="0" marL="0">
              <a:buNone/>
            </a:pPr>
            <a:r>
              <a:rPr lang="en-US" sz="1400" b="1" dirty="0">
                <a:solidFill>
                  <a:schemeClr val="accent2"/>
                </a:solidFill>
              </a:rPr>
              <a:t>Worked example</a:t>
            </a:r>
            <a:endParaRPr lang="en-US" sz="1400" dirty="0"/>
          </a:p>
        </p:txBody>
      </p:sp>
      <p:sp>
        <p:nvSpPr>
          <p:cNvPr id="30" name="Example text"/>
          <p:cNvSpPr txBox="1"/>
          <p:nvPr/>
        </p:nvSpPr>
        <p:spPr>
          <a:xfrm>
            <a:off x="685800" y="3858768"/>
            <a:ext cx="7772400" cy="640080"/>
          </a:xfrm>
          <a:prstGeom prst="rect">
            <a:avLst/>
          </a:prstGeom>
          <a:noFill/>
          <a:ln/>
        </p:spPr>
        <p:txBody>
          <a:bodyPr wrap="square" lIns="0" tIns="0" rIns="0" bIns="0" rtlCol="0" anchor="t"/>
          <a:lstStyle/>
          <a:p>
            <a:pPr indent="0" marL="0">
              <a:buNone/>
            </a:pPr>
            <a:r>
              <a:rPr lang="en-US" sz="1400" dirty="0">
                <a:solidFill>
                  <a:schemeClr val="bg1"/>
                </a:solidFill>
              </a:rPr>
              <a:t>Road A: 10 cars, 12 s since green, score 12.4.  Road D: 4 cars, 40 s since green, score 12.0. A goes first with 24 s of green, and D is close behind.</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Ambulance priority</a:t>
            </a:r>
            <a:endParaRPr lang="en-US" sz="3400" dirty="0"/>
          </a:p>
        </p:txBody>
      </p:sp>
      <p:pic>
        <p:nvPicPr>
          <p:cNvPr id="3" name="Ambulance screenshot" descr="Ambulance with flashing lights queued on road A in the 3D simulator">    </p:cNvPr>
          <p:cNvPicPr>
            <a:picLocks noChangeAspect="1"/>
          </p:cNvPicPr>
          <p:nvPr/>
        </p:nvPicPr>
        <p:blipFill>
          <a:blip r:embed="rId1"/>
          <a:stretch>
            <a:fillRect/>
          </a:stretch>
        </p:blipFill>
        <p:spPr>
          <a:xfrm>
            <a:off x="457200" y="1234440"/>
            <a:ext cx="4023360" cy="3017520"/>
          </a:xfrm>
          <a:prstGeom prst="rect">
            <a:avLst/>
          </a:prstGeom>
        </p:spPr>
      </p:pic>
      <p:sp>
        <p:nvSpPr>
          <p:cNvPr id="4" name="Ambulance caption"/>
          <p:cNvSpPr txBox="1"/>
          <p:nvPr/>
        </p:nvSpPr>
        <p:spPr>
          <a:xfrm>
            <a:off x="457200" y="4315968"/>
            <a:ext cx="4023360" cy="457200"/>
          </a:xfrm>
          <a:prstGeom prst="rect">
            <a:avLst/>
          </a:prstGeom>
          <a:noFill/>
          <a:ln/>
        </p:spPr>
        <p:txBody>
          <a:bodyPr wrap="square" lIns="0" tIns="0" rIns="0" bIns="0" rtlCol="0" anchor="t"/>
          <a:lstStyle/>
          <a:p>
            <a:pPr indent="0" marL="0">
              <a:buNone/>
            </a:pPr>
            <a:r>
              <a:rPr lang="en-US" sz="1200" dirty="0">
                <a:solidFill>
                  <a:schemeClr val="accent4"/>
                </a:solidFill>
              </a:rPr>
              <a:t>The ambulance (white, red stripe) joins road A's queue.</a:t>
            </a:r>
            <a:endParaRPr lang="en-US" sz="1200" dirty="0"/>
          </a:p>
        </p:txBody>
      </p:sp>
      <p:sp>
        <p:nvSpPr>
          <p:cNvPr id="5" name="Step circle 1"/>
          <p:cNvSpPr/>
          <p:nvPr/>
        </p:nvSpPr>
        <p:spPr>
          <a:xfrm>
            <a:off x="4846320" y="1280160"/>
            <a:ext cx="457200" cy="457200"/>
          </a:xfrm>
          <a:prstGeom prst="ellipse">
            <a:avLst/>
          </a:prstGeom>
          <a:solidFill>
            <a:schemeClr val="accent2"/>
          </a:solidFill>
          <a:ln/>
        </p:spPr>
      </p:sp>
      <p:sp>
        <p:nvSpPr>
          <p:cNvPr id="6" name="Step number 1"/>
          <p:cNvSpPr txBox="1"/>
          <p:nvPr/>
        </p:nvSpPr>
        <p:spPr>
          <a:xfrm>
            <a:off x="4846320" y="12801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Step text 1"/>
          <p:cNvSpPr txBox="1"/>
          <p:nvPr/>
        </p:nvSpPr>
        <p:spPr>
          <a:xfrm>
            <a:off x="5486400" y="1298448"/>
            <a:ext cx="3200400" cy="731520"/>
          </a:xfrm>
          <a:prstGeom prst="rect">
            <a:avLst/>
          </a:prstGeom>
          <a:noFill/>
          <a:ln/>
        </p:spPr>
        <p:txBody>
          <a:bodyPr wrap="square" lIns="0" tIns="0" rIns="0" bIns="0" rtlCol="0" anchor="t"/>
          <a:lstStyle/>
          <a:p>
            <a:pPr indent="0" marL="0">
              <a:buNone/>
            </a:pPr>
            <a:r>
              <a:rPr lang="en-US" sz="1600" dirty="0">
                <a:solidFill>
                  <a:schemeClr val="tx1"/>
                </a:solidFill>
              </a:rPr>
              <a:t>Detect which road the ambulance is on</a:t>
            </a:r>
            <a:endParaRPr lang="en-US" sz="1600" dirty="0"/>
          </a:p>
        </p:txBody>
      </p:sp>
      <p:sp>
        <p:nvSpPr>
          <p:cNvPr id="8" name="Step circle 2"/>
          <p:cNvSpPr/>
          <p:nvPr/>
        </p:nvSpPr>
        <p:spPr>
          <a:xfrm>
            <a:off x="4846320" y="2121408"/>
            <a:ext cx="457200" cy="457200"/>
          </a:xfrm>
          <a:prstGeom prst="ellipse">
            <a:avLst/>
          </a:prstGeom>
          <a:solidFill>
            <a:schemeClr val="accent2"/>
          </a:solidFill>
          <a:ln/>
        </p:spPr>
      </p:sp>
      <p:sp>
        <p:nvSpPr>
          <p:cNvPr id="9" name="Step number 2"/>
          <p:cNvSpPr txBox="1"/>
          <p:nvPr/>
        </p:nvSpPr>
        <p:spPr>
          <a:xfrm>
            <a:off x="4846320" y="212140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Step text 2"/>
          <p:cNvSpPr txBox="1"/>
          <p:nvPr/>
        </p:nvSpPr>
        <p:spPr>
          <a:xfrm>
            <a:off x="5486400" y="2139696"/>
            <a:ext cx="3200400" cy="731520"/>
          </a:xfrm>
          <a:prstGeom prst="rect">
            <a:avLst/>
          </a:prstGeom>
          <a:noFill/>
          <a:ln/>
        </p:spPr>
        <p:txBody>
          <a:bodyPr wrap="square" lIns="0" tIns="0" rIns="0" bIns="0" rtlCol="0" anchor="t"/>
          <a:lstStyle/>
          <a:p>
            <a:pPr indent="0" marL="0">
              <a:buNone/>
            </a:pPr>
            <a:r>
              <a:rPr lang="en-US" sz="1600" dirty="0">
                <a:solidFill>
                  <a:schemeClr val="tx1"/>
                </a:solidFill>
              </a:rPr>
              <a:t>End conflicting greens, after at least 5 s</a:t>
            </a:r>
            <a:endParaRPr lang="en-US" sz="1600" dirty="0"/>
          </a:p>
        </p:txBody>
      </p:sp>
      <p:sp>
        <p:nvSpPr>
          <p:cNvPr id="11" name="Step circle 3"/>
          <p:cNvSpPr/>
          <p:nvPr/>
        </p:nvSpPr>
        <p:spPr>
          <a:xfrm>
            <a:off x="4846320" y="2962656"/>
            <a:ext cx="457200" cy="457200"/>
          </a:xfrm>
          <a:prstGeom prst="ellipse">
            <a:avLst/>
          </a:prstGeom>
          <a:solidFill>
            <a:schemeClr val="accent2"/>
          </a:solidFill>
          <a:ln/>
        </p:spPr>
      </p:sp>
      <p:sp>
        <p:nvSpPr>
          <p:cNvPr id="12" name="Step number 3"/>
          <p:cNvSpPr txBox="1"/>
          <p:nvPr/>
        </p:nvSpPr>
        <p:spPr>
          <a:xfrm>
            <a:off x="4846320" y="2962656"/>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Step text 3"/>
          <p:cNvSpPr txBox="1"/>
          <p:nvPr/>
        </p:nvSpPr>
        <p:spPr>
          <a:xfrm>
            <a:off x="5486400" y="2980944"/>
            <a:ext cx="3200400" cy="731520"/>
          </a:xfrm>
          <a:prstGeom prst="rect">
            <a:avLst/>
          </a:prstGeom>
          <a:noFill/>
          <a:ln/>
        </p:spPr>
        <p:txBody>
          <a:bodyPr wrap="square" lIns="0" tIns="0" rIns="0" bIns="0" rtlCol="0" anchor="t"/>
          <a:lstStyle/>
          <a:p>
            <a:pPr indent="0" marL="0">
              <a:buNone/>
            </a:pPr>
            <a:r>
              <a:rPr lang="en-US" sz="1600" dirty="0">
                <a:solidFill>
                  <a:schemeClr val="tx1"/>
                </a:solidFill>
              </a:rPr>
              <a:t>Hold all red for 4 s to clear the junction</a:t>
            </a:r>
            <a:endParaRPr lang="en-US" sz="1600" dirty="0"/>
          </a:p>
        </p:txBody>
      </p:sp>
      <p:sp>
        <p:nvSpPr>
          <p:cNvPr id="14" name="Step circle 4"/>
          <p:cNvSpPr/>
          <p:nvPr/>
        </p:nvSpPr>
        <p:spPr>
          <a:xfrm>
            <a:off x="4846320" y="3803904"/>
            <a:ext cx="457200" cy="457200"/>
          </a:xfrm>
          <a:prstGeom prst="ellipse">
            <a:avLst/>
          </a:prstGeom>
          <a:solidFill>
            <a:schemeClr val="accent2"/>
          </a:solidFill>
          <a:ln/>
        </p:spPr>
      </p:sp>
      <p:sp>
        <p:nvSpPr>
          <p:cNvPr id="15" name="Step number 4"/>
          <p:cNvSpPr txBox="1"/>
          <p:nvPr/>
        </p:nvSpPr>
        <p:spPr>
          <a:xfrm>
            <a:off x="4846320" y="380390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6" name="Step text 4"/>
          <p:cNvSpPr txBox="1"/>
          <p:nvPr/>
        </p:nvSpPr>
        <p:spPr>
          <a:xfrm>
            <a:off x="5486400" y="3822192"/>
            <a:ext cx="3200400" cy="731520"/>
          </a:xfrm>
          <a:prstGeom prst="rect">
            <a:avLst/>
          </a:prstGeom>
          <a:noFill/>
          <a:ln/>
        </p:spPr>
        <p:txBody>
          <a:bodyPr wrap="square" lIns="0" tIns="0" rIns="0" bIns="0" rtlCol="0" anchor="t"/>
          <a:lstStyle/>
          <a:p>
            <a:pPr indent="0" marL="0">
              <a:buNone/>
            </a:pPr>
            <a:r>
              <a:rPr lang="en-US" sz="1600" dirty="0">
                <a:solidFill>
                  <a:schemeClr val="tx1"/>
                </a:solidFill>
              </a:rPr>
              <a:t>Give the ambulance's road 30 s of green and release it once it passes</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Edge decides, cloud learns</a:t>
            </a:r>
            <a:endParaRPr lang="en-US" sz="3400" dirty="0"/>
          </a:p>
        </p:txBody>
      </p:sp>
      <p:sp>
        <p:nvSpPr>
          <p:cNvPr id="3" name="Sensing card"/>
          <p:cNvSpPr/>
          <p:nvPr/>
        </p:nvSpPr>
        <p:spPr>
          <a:xfrm>
            <a:off x="457200" y="1280160"/>
            <a:ext cx="2651760" cy="3017520"/>
          </a:xfrm>
          <a:prstGeom prst="rect">
            <a:avLst/>
          </a:prstGeom>
          <a:solidFill>
            <a:schemeClr val="bg2"/>
          </a:solidFill>
          <a:ln/>
        </p:spPr>
      </p:sp>
      <p:sp>
        <p:nvSpPr>
          <p:cNvPr id="4" name="Sensing icon circle"/>
          <p:cNvSpPr/>
          <p:nvPr/>
        </p:nvSpPr>
        <p:spPr>
          <a:xfrm>
            <a:off x="685800" y="1463040"/>
            <a:ext cx="502920" cy="502920"/>
          </a:xfrm>
          <a:prstGeom prst="ellipse">
            <a:avLst/>
          </a:prstGeom>
          <a:solidFill>
            <a:schemeClr val="accent1"/>
          </a:solidFill>
          <a:ln/>
        </p:spPr>
      </p:sp>
      <p:pic>
        <p:nvPicPr>
          <p:cNvPr id="5" name="Sensing icon" descr="Sensing icon">    </p:cNvPr>
          <p:cNvPicPr>
            <a:picLocks noChangeAspect="1"/>
          </p:cNvPicPr>
          <p:nvPr/>
        </p:nvPicPr>
        <p:blipFill>
          <a:blip r:embed="rId1"/>
          <a:stretch>
            <a:fillRect/>
          </a:stretch>
        </p:blipFill>
        <p:spPr>
          <a:xfrm>
            <a:off x="811530" y="1588770"/>
            <a:ext cx="251460" cy="251460"/>
          </a:xfrm>
          <a:prstGeom prst="rect">
            <a:avLst/>
          </a:prstGeom>
        </p:spPr>
      </p:pic>
      <p:sp>
        <p:nvSpPr>
          <p:cNvPr id="6" name="Sensing tag"/>
          <p:cNvSpPr txBox="1"/>
          <p:nvPr/>
        </p:nvSpPr>
        <p:spPr>
          <a:xfrm>
            <a:off x="685800" y="2057400"/>
            <a:ext cx="2286000" cy="228600"/>
          </a:xfrm>
          <a:prstGeom prst="rect">
            <a:avLst/>
          </a:prstGeom>
          <a:noFill/>
          <a:ln/>
        </p:spPr>
        <p:txBody>
          <a:bodyPr wrap="square" lIns="0" tIns="0" rIns="0" bIns="0" rtlCol="0" anchor="t"/>
          <a:lstStyle/>
          <a:p>
            <a:pPr indent="0" marL="0">
              <a:buNone/>
            </a:pPr>
            <a:r>
              <a:rPr lang="en-US" sz="1100" b="1" spc="100" kern="0" dirty="0">
                <a:solidFill>
                  <a:schemeClr val="accent4"/>
                </a:solidFill>
              </a:rPr>
              <a:t>ON THE ROAD</a:t>
            </a:r>
            <a:endParaRPr lang="en-US" sz="1100" dirty="0"/>
          </a:p>
        </p:txBody>
      </p:sp>
      <p:sp>
        <p:nvSpPr>
          <p:cNvPr id="7" name="Sensing heading"/>
          <p:cNvSpPr txBox="1"/>
          <p:nvPr/>
        </p:nvSpPr>
        <p:spPr>
          <a:xfrm>
            <a:off x="685800" y="2286000"/>
            <a:ext cx="2286000" cy="365760"/>
          </a:xfrm>
          <a:prstGeom prst="rect">
            <a:avLst/>
          </a:prstGeom>
          <a:noFill/>
          <a:ln/>
        </p:spPr>
        <p:txBody>
          <a:bodyPr wrap="square" lIns="0" tIns="0" rIns="0" bIns="0" rtlCol="0" anchor="t"/>
          <a:lstStyle/>
          <a:p>
            <a:pPr indent="0" marL="0">
              <a:buNone/>
            </a:pPr>
            <a:r>
              <a:rPr lang="en-US" sz="2000" b="1" dirty="0">
                <a:solidFill>
                  <a:schemeClr val="tx1"/>
                </a:solidFill>
              </a:rPr>
              <a:t>Sensing</a:t>
            </a:r>
            <a:endParaRPr lang="en-US" sz="2000" dirty="0"/>
          </a:p>
        </p:txBody>
      </p:sp>
      <p:sp>
        <p:nvSpPr>
          <p:cNvPr id="8" name="Sensing list"/>
          <p:cNvSpPr txBox="1"/>
          <p:nvPr/>
        </p:nvSpPr>
        <p:spPr>
          <a:xfrm>
            <a:off x="685800" y="2697480"/>
            <a:ext cx="228600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Queue length on each approach</a:t>
            </a:r>
            <a:endParaRPr lang="en-US" sz="1400" dirty="0"/>
          </a:p>
          <a:p>
            <a:pPr marL="342900" indent="-342900">
              <a:spcAft>
                <a:spcPts val="400"/>
              </a:spcAft>
              <a:buSzPct val="100000"/>
              <a:buChar char="•"/>
            </a:pPr>
            <a:r>
              <a:rPr lang="en-US" sz="1400" dirty="0">
                <a:solidFill>
                  <a:schemeClr val="accent4"/>
                </a:solidFill>
              </a:rPr>
              <a:t>Time since each road had green</a:t>
            </a:r>
            <a:endParaRPr lang="en-US" sz="1400" dirty="0"/>
          </a:p>
          <a:p>
            <a:pPr marL="342900" indent="-342900">
              <a:spcAft>
                <a:spcPts val="400"/>
              </a:spcAft>
              <a:buSzPct val="100000"/>
              <a:buChar char="•"/>
            </a:pPr>
            <a:r>
              <a:rPr lang="en-US" sz="1400" dirty="0">
                <a:solidFill>
                  <a:schemeClr val="accent4"/>
                </a:solidFill>
              </a:rPr>
              <a:t>Emergency vehicle detection</a:t>
            </a:r>
            <a:endParaRPr lang="en-US" sz="1400" dirty="0"/>
          </a:p>
        </p:txBody>
      </p:sp>
      <p:sp>
        <p:nvSpPr>
          <p:cNvPr id="9" name="Edge controller card"/>
          <p:cNvSpPr/>
          <p:nvPr/>
        </p:nvSpPr>
        <p:spPr>
          <a:xfrm>
            <a:off x="3246120" y="1280160"/>
            <a:ext cx="2651760" cy="3017520"/>
          </a:xfrm>
          <a:prstGeom prst="rect">
            <a:avLst/>
          </a:prstGeom>
          <a:solidFill>
            <a:schemeClr val="bg2"/>
          </a:solidFill>
          <a:ln/>
        </p:spPr>
      </p:sp>
      <p:sp>
        <p:nvSpPr>
          <p:cNvPr id="10" name="Edge controller icon circle"/>
          <p:cNvSpPr/>
          <p:nvPr/>
        </p:nvSpPr>
        <p:spPr>
          <a:xfrm>
            <a:off x="3474720" y="1463040"/>
            <a:ext cx="502920" cy="502920"/>
          </a:xfrm>
          <a:prstGeom prst="ellipse">
            <a:avLst/>
          </a:prstGeom>
          <a:solidFill>
            <a:schemeClr val="accent1"/>
          </a:solidFill>
          <a:ln/>
        </p:spPr>
      </p:sp>
      <p:pic>
        <p:nvPicPr>
          <p:cNvPr id="11" name="Edge controller icon" descr="Edge controller icon">    </p:cNvPr>
          <p:cNvPicPr>
            <a:picLocks noChangeAspect="1"/>
          </p:cNvPicPr>
          <p:nvPr/>
        </p:nvPicPr>
        <p:blipFill>
          <a:blip r:embed="rId2"/>
          <a:stretch>
            <a:fillRect/>
          </a:stretch>
        </p:blipFill>
        <p:spPr>
          <a:xfrm>
            <a:off x="3600450" y="1588770"/>
            <a:ext cx="251460" cy="251460"/>
          </a:xfrm>
          <a:prstGeom prst="rect">
            <a:avLst/>
          </a:prstGeom>
        </p:spPr>
      </p:pic>
      <p:sp>
        <p:nvSpPr>
          <p:cNvPr id="12" name="Edge controller tag"/>
          <p:cNvSpPr txBox="1"/>
          <p:nvPr/>
        </p:nvSpPr>
        <p:spPr>
          <a:xfrm>
            <a:off x="3474720" y="2057400"/>
            <a:ext cx="2286000" cy="228600"/>
          </a:xfrm>
          <a:prstGeom prst="rect">
            <a:avLst/>
          </a:prstGeom>
          <a:noFill/>
          <a:ln/>
        </p:spPr>
        <p:txBody>
          <a:bodyPr wrap="square" lIns="0" tIns="0" rIns="0" bIns="0" rtlCol="0" anchor="t"/>
          <a:lstStyle/>
          <a:p>
            <a:pPr indent="0" marL="0">
              <a:buNone/>
            </a:pPr>
            <a:r>
              <a:rPr lang="en-US" sz="1100" b="1" spc="100" kern="0" dirty="0">
                <a:solidFill>
                  <a:schemeClr val="accent4"/>
                </a:solidFill>
              </a:rPr>
              <a:t>AT THE JUNCTION</a:t>
            </a:r>
            <a:endParaRPr lang="en-US" sz="1100" dirty="0"/>
          </a:p>
        </p:txBody>
      </p:sp>
      <p:sp>
        <p:nvSpPr>
          <p:cNvPr id="13" name="Edge controller heading"/>
          <p:cNvSpPr txBox="1"/>
          <p:nvPr/>
        </p:nvSpPr>
        <p:spPr>
          <a:xfrm>
            <a:off x="3474720" y="2286000"/>
            <a:ext cx="2286000" cy="365760"/>
          </a:xfrm>
          <a:prstGeom prst="rect">
            <a:avLst/>
          </a:prstGeom>
          <a:noFill/>
          <a:ln/>
        </p:spPr>
        <p:txBody>
          <a:bodyPr wrap="square" lIns="0" tIns="0" rIns="0" bIns="0" rtlCol="0" anchor="t"/>
          <a:lstStyle/>
          <a:p>
            <a:pPr indent="0" marL="0">
              <a:buNone/>
            </a:pPr>
            <a:r>
              <a:rPr lang="en-US" sz="2000" b="1" dirty="0">
                <a:solidFill>
                  <a:schemeClr val="tx1"/>
                </a:solidFill>
              </a:rPr>
              <a:t>Edge controller</a:t>
            </a:r>
            <a:endParaRPr lang="en-US" sz="2000" dirty="0"/>
          </a:p>
        </p:txBody>
      </p:sp>
      <p:sp>
        <p:nvSpPr>
          <p:cNvPr id="14" name="Edge controller list"/>
          <p:cNvSpPr txBox="1"/>
          <p:nvPr/>
        </p:nvSpPr>
        <p:spPr>
          <a:xfrm>
            <a:off x="3474720" y="2697480"/>
            <a:ext cx="228600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Runs the five rules</a:t>
            </a:r>
            <a:endParaRPr lang="en-US" sz="1400" dirty="0"/>
          </a:p>
          <a:p>
            <a:pPr marL="342900" indent="-342900">
              <a:spcAft>
                <a:spcPts val="400"/>
              </a:spcAft>
              <a:buSzPct val="100000"/>
              <a:buChar char="•"/>
            </a:pPr>
            <a:r>
              <a:rPr lang="en-US" sz="1400" dirty="0">
                <a:solidFill>
                  <a:schemeClr val="accent4"/>
                </a:solidFill>
              </a:rPr>
              <a:t>Switches the signal heads</a:t>
            </a:r>
            <a:endParaRPr lang="en-US" sz="1400" dirty="0"/>
          </a:p>
          <a:p>
            <a:pPr marL="342900" indent="-342900">
              <a:spcAft>
                <a:spcPts val="400"/>
              </a:spcAft>
              <a:buSzPct val="100000"/>
              <a:buChar char="•"/>
            </a:pPr>
            <a:r>
              <a:rPr lang="en-US" sz="1400" dirty="0">
                <a:solidFill>
                  <a:schemeClr val="accent4"/>
                </a:solidFill>
              </a:rPr>
              <a:t>Keeps working if the network drops</a:t>
            </a:r>
            <a:endParaRPr lang="en-US" sz="1400" dirty="0"/>
          </a:p>
        </p:txBody>
      </p:sp>
      <p:sp>
        <p:nvSpPr>
          <p:cNvPr id="15" name="Learning card"/>
          <p:cNvSpPr/>
          <p:nvPr/>
        </p:nvSpPr>
        <p:spPr>
          <a:xfrm>
            <a:off x="6035040" y="1280160"/>
            <a:ext cx="2651760" cy="3017520"/>
          </a:xfrm>
          <a:prstGeom prst="rect">
            <a:avLst/>
          </a:prstGeom>
          <a:solidFill>
            <a:schemeClr val="bg1"/>
          </a:solidFill>
          <a:ln w="19050">
            <a:solidFill>
              <a:schemeClr val="accent5"/>
            </a:solidFill>
            <a:prstDash val="dash"/>
          </a:ln>
        </p:spPr>
      </p:sp>
      <p:sp>
        <p:nvSpPr>
          <p:cNvPr id="16" name="Learning icon circle"/>
          <p:cNvSpPr/>
          <p:nvPr/>
        </p:nvSpPr>
        <p:spPr>
          <a:xfrm>
            <a:off x="6263640" y="1463040"/>
            <a:ext cx="502920" cy="502920"/>
          </a:xfrm>
          <a:prstGeom prst="ellipse">
            <a:avLst/>
          </a:prstGeom>
          <a:solidFill>
            <a:schemeClr val="accent5"/>
          </a:solidFill>
          <a:ln/>
        </p:spPr>
      </p:sp>
      <p:pic>
        <p:nvPicPr>
          <p:cNvPr id="17" name="Learning icon" descr="Learning icon">    </p:cNvPr>
          <p:cNvPicPr>
            <a:picLocks noChangeAspect="1"/>
          </p:cNvPicPr>
          <p:nvPr/>
        </p:nvPicPr>
        <p:blipFill>
          <a:blip r:embed="rId3"/>
          <a:stretch>
            <a:fillRect/>
          </a:stretch>
        </p:blipFill>
        <p:spPr>
          <a:xfrm>
            <a:off x="6389370" y="1588770"/>
            <a:ext cx="251460" cy="251460"/>
          </a:xfrm>
          <a:prstGeom prst="rect">
            <a:avLst/>
          </a:prstGeom>
        </p:spPr>
      </p:pic>
      <p:sp>
        <p:nvSpPr>
          <p:cNvPr id="18" name="Learning tag"/>
          <p:cNvSpPr txBox="1"/>
          <p:nvPr/>
        </p:nvSpPr>
        <p:spPr>
          <a:xfrm>
            <a:off x="6263640" y="2057400"/>
            <a:ext cx="2286000" cy="228600"/>
          </a:xfrm>
          <a:prstGeom prst="rect">
            <a:avLst/>
          </a:prstGeom>
          <a:noFill/>
          <a:ln/>
        </p:spPr>
        <p:txBody>
          <a:bodyPr wrap="square" lIns="0" tIns="0" rIns="0" bIns="0" rtlCol="0" anchor="t"/>
          <a:lstStyle/>
          <a:p>
            <a:pPr indent="0" marL="0">
              <a:buNone/>
            </a:pPr>
            <a:r>
              <a:rPr lang="en-US" sz="1100" b="1" spc="100" kern="0" dirty="0">
                <a:solidFill>
                  <a:schemeClr val="accent4"/>
                </a:solidFill>
              </a:rPr>
              <a:t>IN THE CLOUD  (PLANNED)</a:t>
            </a:r>
            <a:endParaRPr lang="en-US" sz="1100" dirty="0"/>
          </a:p>
        </p:txBody>
      </p:sp>
      <p:sp>
        <p:nvSpPr>
          <p:cNvPr id="19" name="Learning heading"/>
          <p:cNvSpPr txBox="1"/>
          <p:nvPr/>
        </p:nvSpPr>
        <p:spPr>
          <a:xfrm>
            <a:off x="6263640" y="2286000"/>
            <a:ext cx="2286000" cy="365760"/>
          </a:xfrm>
          <a:prstGeom prst="rect">
            <a:avLst/>
          </a:prstGeom>
          <a:noFill/>
          <a:ln/>
        </p:spPr>
        <p:txBody>
          <a:bodyPr wrap="square" lIns="0" tIns="0" rIns="0" bIns="0" rtlCol="0" anchor="t"/>
          <a:lstStyle/>
          <a:p>
            <a:pPr indent="0" marL="0">
              <a:buNone/>
            </a:pPr>
            <a:r>
              <a:rPr lang="en-US" sz="2000" b="1" dirty="0">
                <a:solidFill>
                  <a:schemeClr val="tx1"/>
                </a:solidFill>
              </a:rPr>
              <a:t>Learning</a:t>
            </a:r>
            <a:endParaRPr lang="en-US" sz="2000" dirty="0"/>
          </a:p>
        </p:txBody>
      </p:sp>
      <p:sp>
        <p:nvSpPr>
          <p:cNvPr id="20" name="Learning list"/>
          <p:cNvSpPr txBox="1"/>
          <p:nvPr/>
        </p:nvSpPr>
        <p:spPr>
          <a:xfrm>
            <a:off x="6263640" y="2697480"/>
            <a:ext cx="228600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Learns demand by hour and weekday</a:t>
            </a:r>
            <a:endParaRPr lang="en-US" sz="1400" dirty="0"/>
          </a:p>
          <a:p>
            <a:pPr marL="342900" indent="-342900">
              <a:spcAft>
                <a:spcPts val="400"/>
              </a:spcAft>
              <a:buSzPct val="100000"/>
              <a:buChar char="•"/>
            </a:pPr>
            <a:r>
              <a:rPr lang="en-US" sz="1400" dirty="0">
                <a:solidFill>
                  <a:schemeClr val="accent4"/>
                </a:solidFill>
              </a:rPr>
              <a:t>Pushes tuned parameters to each edge</a:t>
            </a:r>
            <a:endParaRPr lang="en-US" sz="1400" dirty="0"/>
          </a:p>
          <a:p>
            <a:pPr marL="342900" indent="-342900">
              <a:spcAft>
                <a:spcPts val="400"/>
              </a:spcAft>
              <a:buSzPct val="100000"/>
              <a:buChar char="•"/>
            </a:pPr>
            <a:r>
              <a:rPr lang="en-US" sz="1400" dirty="0">
                <a:solidFill>
                  <a:schemeClr val="accent4"/>
                </a:solidFill>
              </a:rPr>
              <a:t>Compares junctions along a corridor</a:t>
            </a:r>
            <a:endParaRPr lang="en-US" sz="1400" dirty="0"/>
          </a:p>
        </p:txBody>
      </p:sp>
      <p:sp>
        <p:nvSpPr>
          <p:cNvPr id="21" name="Flow note"/>
          <p:cNvSpPr txBox="1"/>
          <p:nvPr/>
        </p:nvSpPr>
        <p:spPr>
          <a:xfrm>
            <a:off x="457200" y="4434840"/>
            <a:ext cx="7680960" cy="365760"/>
          </a:xfrm>
          <a:prstGeom prst="rect">
            <a:avLst/>
          </a:prstGeom>
          <a:noFill/>
          <a:ln/>
        </p:spPr>
        <p:txBody>
          <a:bodyPr wrap="square" lIns="0" tIns="0" rIns="0" bIns="0" rtlCol="0" anchor="t"/>
          <a:lstStyle/>
          <a:p>
            <a:pPr indent="0" marL="0">
              <a:buNone/>
            </a:pPr>
            <a:r>
              <a:rPr lang="en-US" sz="1600" b="1" dirty="0">
                <a:solidFill>
                  <a:schemeClr val="accent1"/>
                </a:solidFill>
              </a:rPr>
              <a:t>Queue counts flow left to right. Tuned parameters flow back to the edge.</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What you can test</a:t>
            </a:r>
            <a:endParaRPr lang="en-US" sz="3400" dirty="0"/>
          </a:p>
        </p:txBody>
      </p:sp>
      <p:sp>
        <p:nvSpPr>
          <p:cNvPr id="3" name="Feature card 1"/>
          <p:cNvSpPr/>
          <p:nvPr/>
        </p:nvSpPr>
        <p:spPr>
          <a:xfrm>
            <a:off x="457200" y="1234440"/>
            <a:ext cx="2651760" cy="1600200"/>
          </a:xfrm>
          <a:prstGeom prst="rect">
            <a:avLst/>
          </a:prstGeom>
          <a:solidFill>
            <a:schemeClr val="bg2"/>
          </a:solidFill>
          <a:ln/>
        </p:spPr>
      </p:sp>
      <p:sp>
        <p:nvSpPr>
          <p:cNvPr id="4" name="Feature icon 1 circle"/>
          <p:cNvSpPr/>
          <p:nvPr/>
        </p:nvSpPr>
        <p:spPr>
          <a:xfrm>
            <a:off x="640080" y="1399032"/>
            <a:ext cx="420624" cy="420624"/>
          </a:xfrm>
          <a:prstGeom prst="ellipse">
            <a:avLst/>
          </a:prstGeom>
          <a:solidFill>
            <a:schemeClr val="accent1"/>
          </a:solidFill>
          <a:ln/>
        </p:spPr>
      </p:sp>
      <p:pic>
        <p:nvPicPr>
          <p:cNvPr id="5" name="Feature icon 1" descr="Feature icon 1">    </p:cNvPr>
          <p:cNvPicPr>
            <a:picLocks noChangeAspect="1"/>
          </p:cNvPicPr>
          <p:nvPr/>
        </p:nvPicPr>
        <p:blipFill>
          <a:blip r:embed="rId1"/>
          <a:stretch>
            <a:fillRect/>
          </a:stretch>
        </p:blipFill>
        <p:spPr>
          <a:xfrm>
            <a:off x="745236" y="1504188"/>
            <a:ext cx="210312" cy="210312"/>
          </a:xfrm>
          <a:prstGeom prst="rect">
            <a:avLst/>
          </a:prstGeom>
        </p:spPr>
      </p:pic>
      <p:sp>
        <p:nvSpPr>
          <p:cNvPr id="6" name="Feature name 1"/>
          <p:cNvSpPr txBox="1"/>
          <p:nvPr/>
        </p:nvSpPr>
        <p:spPr>
          <a:xfrm>
            <a:off x="1188720" y="141732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Traffic sliders</a:t>
            </a:r>
            <a:endParaRPr lang="en-US" sz="1600" dirty="0"/>
          </a:p>
        </p:txBody>
      </p:sp>
      <p:sp>
        <p:nvSpPr>
          <p:cNvPr id="7" name="Feature text 1"/>
          <p:cNvSpPr txBox="1"/>
          <p:nvPr/>
        </p:nvSpPr>
        <p:spPr>
          <a:xfrm>
            <a:off x="640080" y="196596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Set arrival rates per road, or pick a preset.</a:t>
            </a:r>
            <a:endParaRPr lang="en-US" sz="1400" dirty="0"/>
          </a:p>
        </p:txBody>
      </p:sp>
      <p:sp>
        <p:nvSpPr>
          <p:cNvPr id="8" name="Feature card 2"/>
          <p:cNvSpPr/>
          <p:nvPr/>
        </p:nvSpPr>
        <p:spPr>
          <a:xfrm>
            <a:off x="3246120" y="1234440"/>
            <a:ext cx="2651760" cy="1600200"/>
          </a:xfrm>
          <a:prstGeom prst="rect">
            <a:avLst/>
          </a:prstGeom>
          <a:solidFill>
            <a:schemeClr val="bg2"/>
          </a:solidFill>
          <a:ln/>
        </p:spPr>
      </p:sp>
      <p:sp>
        <p:nvSpPr>
          <p:cNvPr id="9" name="Feature icon 2 circle"/>
          <p:cNvSpPr/>
          <p:nvPr/>
        </p:nvSpPr>
        <p:spPr>
          <a:xfrm>
            <a:off x="3429000" y="1399032"/>
            <a:ext cx="420624" cy="420624"/>
          </a:xfrm>
          <a:prstGeom prst="ellipse">
            <a:avLst/>
          </a:prstGeom>
          <a:solidFill>
            <a:schemeClr val="accent1"/>
          </a:solidFill>
          <a:ln/>
        </p:spPr>
      </p:sp>
      <p:pic>
        <p:nvPicPr>
          <p:cNvPr id="10" name="Feature icon 2" descr="Feature icon 2">    </p:cNvPr>
          <p:cNvPicPr>
            <a:picLocks noChangeAspect="1"/>
          </p:cNvPicPr>
          <p:nvPr/>
        </p:nvPicPr>
        <p:blipFill>
          <a:blip r:embed="rId2"/>
          <a:stretch>
            <a:fillRect/>
          </a:stretch>
        </p:blipFill>
        <p:spPr>
          <a:xfrm>
            <a:off x="3534156" y="1504188"/>
            <a:ext cx="210312" cy="210312"/>
          </a:xfrm>
          <a:prstGeom prst="rect">
            <a:avLst/>
          </a:prstGeom>
        </p:spPr>
      </p:pic>
      <p:sp>
        <p:nvSpPr>
          <p:cNvPr id="11" name="Feature name 2"/>
          <p:cNvSpPr txBox="1"/>
          <p:nvPr/>
        </p:nvSpPr>
        <p:spPr>
          <a:xfrm>
            <a:off x="3977640" y="141732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3D and top-down</a:t>
            </a:r>
            <a:endParaRPr lang="en-US" sz="1600" dirty="0"/>
          </a:p>
        </p:txBody>
      </p:sp>
      <p:sp>
        <p:nvSpPr>
          <p:cNvPr id="12" name="Feature text 2"/>
          <p:cNvSpPr txBox="1"/>
          <p:nvPr/>
        </p:nvSpPr>
        <p:spPr>
          <a:xfrm>
            <a:off x="3429000" y="196596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Drag the 3D scene to rotate it.</a:t>
            </a:r>
            <a:endParaRPr lang="en-US" sz="1400" dirty="0"/>
          </a:p>
        </p:txBody>
      </p:sp>
      <p:sp>
        <p:nvSpPr>
          <p:cNvPr id="13" name="Feature card 3"/>
          <p:cNvSpPr/>
          <p:nvPr/>
        </p:nvSpPr>
        <p:spPr>
          <a:xfrm>
            <a:off x="6035040" y="1234440"/>
            <a:ext cx="2651760" cy="1600200"/>
          </a:xfrm>
          <a:prstGeom prst="rect">
            <a:avLst/>
          </a:prstGeom>
          <a:solidFill>
            <a:schemeClr val="bg2"/>
          </a:solidFill>
          <a:ln/>
        </p:spPr>
      </p:sp>
      <p:sp>
        <p:nvSpPr>
          <p:cNvPr id="14" name="Feature icon 3 circle"/>
          <p:cNvSpPr/>
          <p:nvPr/>
        </p:nvSpPr>
        <p:spPr>
          <a:xfrm>
            <a:off x="6217920" y="1399032"/>
            <a:ext cx="420624" cy="420624"/>
          </a:xfrm>
          <a:prstGeom prst="ellipse">
            <a:avLst/>
          </a:prstGeom>
          <a:solidFill>
            <a:schemeClr val="accent1"/>
          </a:solidFill>
          <a:ln/>
        </p:spPr>
      </p:sp>
      <p:pic>
        <p:nvPicPr>
          <p:cNvPr id="15" name="Feature icon 3" descr="Feature icon 3">    </p:cNvPr>
          <p:cNvPicPr>
            <a:picLocks noChangeAspect="1"/>
          </p:cNvPicPr>
          <p:nvPr/>
        </p:nvPicPr>
        <p:blipFill>
          <a:blip r:embed="rId3"/>
          <a:stretch>
            <a:fillRect/>
          </a:stretch>
        </p:blipFill>
        <p:spPr>
          <a:xfrm>
            <a:off x="6323076" y="1504188"/>
            <a:ext cx="210312" cy="210312"/>
          </a:xfrm>
          <a:prstGeom prst="rect">
            <a:avLst/>
          </a:prstGeom>
        </p:spPr>
      </p:pic>
      <p:sp>
        <p:nvSpPr>
          <p:cNvPr id="16" name="Feature name 3"/>
          <p:cNvSpPr txBox="1"/>
          <p:nvPr/>
        </p:nvSpPr>
        <p:spPr>
          <a:xfrm>
            <a:off x="6766560" y="141732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Rush and ambulance</a:t>
            </a:r>
            <a:endParaRPr lang="en-US" sz="1600" dirty="0"/>
          </a:p>
        </p:txBody>
      </p:sp>
      <p:sp>
        <p:nvSpPr>
          <p:cNvPr id="17" name="Feature text 3"/>
          <p:cNvSpPr txBox="1"/>
          <p:nvPr/>
        </p:nvSpPr>
        <p:spPr>
          <a:xfrm>
            <a:off x="6217920" y="196596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Add 15 cars to road A or send an ambulance.</a:t>
            </a:r>
            <a:endParaRPr lang="en-US" sz="1400" dirty="0"/>
          </a:p>
        </p:txBody>
      </p:sp>
      <p:sp>
        <p:nvSpPr>
          <p:cNvPr id="18" name="Feature card 4"/>
          <p:cNvSpPr/>
          <p:nvPr/>
        </p:nvSpPr>
        <p:spPr>
          <a:xfrm>
            <a:off x="457200" y="2971800"/>
            <a:ext cx="2651760" cy="1600200"/>
          </a:xfrm>
          <a:prstGeom prst="rect">
            <a:avLst/>
          </a:prstGeom>
          <a:solidFill>
            <a:schemeClr val="bg2"/>
          </a:solidFill>
          <a:ln/>
        </p:spPr>
      </p:sp>
      <p:sp>
        <p:nvSpPr>
          <p:cNvPr id="19" name="Feature icon 4 circle"/>
          <p:cNvSpPr/>
          <p:nvPr/>
        </p:nvSpPr>
        <p:spPr>
          <a:xfrm>
            <a:off x="640080" y="3136392"/>
            <a:ext cx="420624" cy="420624"/>
          </a:xfrm>
          <a:prstGeom prst="ellipse">
            <a:avLst/>
          </a:prstGeom>
          <a:solidFill>
            <a:schemeClr val="accent1"/>
          </a:solidFill>
          <a:ln/>
        </p:spPr>
      </p:sp>
      <p:pic>
        <p:nvPicPr>
          <p:cNvPr id="20" name="Feature icon 4" descr="Feature icon 4">    </p:cNvPr>
          <p:cNvPicPr>
            <a:picLocks noChangeAspect="1"/>
          </p:cNvPicPr>
          <p:nvPr/>
        </p:nvPicPr>
        <p:blipFill>
          <a:blip r:embed="rId4"/>
          <a:stretch>
            <a:fillRect/>
          </a:stretch>
        </p:blipFill>
        <p:spPr>
          <a:xfrm>
            <a:off x="745236" y="3241548"/>
            <a:ext cx="210312" cy="210312"/>
          </a:xfrm>
          <a:prstGeom prst="rect">
            <a:avLst/>
          </a:prstGeom>
        </p:spPr>
      </p:pic>
      <p:sp>
        <p:nvSpPr>
          <p:cNvPr id="21" name="Feature name 4"/>
          <p:cNvSpPr txBox="1"/>
          <p:nvPr/>
        </p:nvSpPr>
        <p:spPr>
          <a:xfrm>
            <a:off x="1188720" y="315468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Run a day</a:t>
            </a:r>
            <a:endParaRPr lang="en-US" sz="1600" dirty="0"/>
          </a:p>
        </p:txBody>
      </p:sp>
      <p:sp>
        <p:nvSpPr>
          <p:cNvPr id="22" name="Feature text 4"/>
          <p:cNvSpPr txBox="1"/>
          <p:nvPr/>
        </p:nvSpPr>
        <p:spPr>
          <a:xfrm>
            <a:off x="640080" y="370332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Morning and evening peaks with a live clock.</a:t>
            </a:r>
            <a:endParaRPr lang="en-US" sz="1400" dirty="0"/>
          </a:p>
        </p:txBody>
      </p:sp>
      <p:sp>
        <p:nvSpPr>
          <p:cNvPr id="23" name="Feature card 5"/>
          <p:cNvSpPr/>
          <p:nvPr/>
        </p:nvSpPr>
        <p:spPr>
          <a:xfrm>
            <a:off x="3246120" y="2971800"/>
            <a:ext cx="2651760" cy="1600200"/>
          </a:xfrm>
          <a:prstGeom prst="rect">
            <a:avLst/>
          </a:prstGeom>
          <a:solidFill>
            <a:schemeClr val="bg2"/>
          </a:solidFill>
          <a:ln/>
        </p:spPr>
      </p:sp>
      <p:sp>
        <p:nvSpPr>
          <p:cNvPr id="24" name="Feature icon 5 circle"/>
          <p:cNvSpPr/>
          <p:nvPr/>
        </p:nvSpPr>
        <p:spPr>
          <a:xfrm>
            <a:off x="3429000" y="3136392"/>
            <a:ext cx="420624" cy="420624"/>
          </a:xfrm>
          <a:prstGeom prst="ellipse">
            <a:avLst/>
          </a:prstGeom>
          <a:solidFill>
            <a:schemeClr val="accent1"/>
          </a:solidFill>
          <a:ln/>
        </p:spPr>
      </p:sp>
      <p:pic>
        <p:nvPicPr>
          <p:cNvPr id="25" name="Feature icon 5" descr="Feature icon 5">    </p:cNvPr>
          <p:cNvPicPr>
            <a:picLocks noChangeAspect="1"/>
          </p:cNvPicPr>
          <p:nvPr/>
        </p:nvPicPr>
        <p:blipFill>
          <a:blip r:embed="rId5"/>
          <a:stretch>
            <a:fillRect/>
          </a:stretch>
        </p:blipFill>
        <p:spPr>
          <a:xfrm>
            <a:off x="3534156" y="3241548"/>
            <a:ext cx="210312" cy="210312"/>
          </a:xfrm>
          <a:prstGeom prst="rect">
            <a:avLst/>
          </a:prstGeom>
        </p:spPr>
      </p:pic>
      <p:sp>
        <p:nvSpPr>
          <p:cNvPr id="26" name="Feature name 5"/>
          <p:cNvSpPr txBox="1"/>
          <p:nvPr/>
        </p:nvSpPr>
        <p:spPr>
          <a:xfrm>
            <a:off x="3977640" y="315468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Fixed timer control</a:t>
            </a:r>
            <a:endParaRPr lang="en-US" sz="1600" dirty="0"/>
          </a:p>
        </p:txBody>
      </p:sp>
      <p:sp>
        <p:nvSpPr>
          <p:cNvPr id="27" name="Feature text 5"/>
          <p:cNvSpPr txBox="1"/>
          <p:nvPr/>
        </p:nvSpPr>
        <p:spPr>
          <a:xfrm>
            <a:off x="3429000" y="370332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Set its green length, or let it tune itself.</a:t>
            </a:r>
            <a:endParaRPr lang="en-US" sz="1400" dirty="0"/>
          </a:p>
        </p:txBody>
      </p:sp>
      <p:sp>
        <p:nvSpPr>
          <p:cNvPr id="28" name="Feature card 6"/>
          <p:cNvSpPr/>
          <p:nvPr/>
        </p:nvSpPr>
        <p:spPr>
          <a:xfrm>
            <a:off x="6035040" y="2971800"/>
            <a:ext cx="2651760" cy="1600200"/>
          </a:xfrm>
          <a:prstGeom prst="rect">
            <a:avLst/>
          </a:prstGeom>
          <a:solidFill>
            <a:schemeClr val="bg2"/>
          </a:solidFill>
          <a:ln/>
        </p:spPr>
      </p:sp>
      <p:sp>
        <p:nvSpPr>
          <p:cNvPr id="29" name="Feature icon 6 circle"/>
          <p:cNvSpPr/>
          <p:nvPr/>
        </p:nvSpPr>
        <p:spPr>
          <a:xfrm>
            <a:off x="6217920" y="3136392"/>
            <a:ext cx="420624" cy="420624"/>
          </a:xfrm>
          <a:prstGeom prst="ellipse">
            <a:avLst/>
          </a:prstGeom>
          <a:solidFill>
            <a:schemeClr val="accent1"/>
          </a:solidFill>
          <a:ln/>
        </p:spPr>
      </p:sp>
      <p:pic>
        <p:nvPicPr>
          <p:cNvPr id="30" name="Feature icon 6" descr="Feature icon 6">    </p:cNvPr>
          <p:cNvPicPr>
            <a:picLocks noChangeAspect="1"/>
          </p:cNvPicPr>
          <p:nvPr/>
        </p:nvPicPr>
        <p:blipFill>
          <a:blip r:embed="rId6"/>
          <a:stretch>
            <a:fillRect/>
          </a:stretch>
        </p:blipFill>
        <p:spPr>
          <a:xfrm>
            <a:off x="6323076" y="3241548"/>
            <a:ext cx="210312" cy="210312"/>
          </a:xfrm>
          <a:prstGeom prst="rect">
            <a:avLst/>
          </a:prstGeom>
        </p:spPr>
      </p:pic>
      <p:sp>
        <p:nvSpPr>
          <p:cNvPr id="31" name="Feature name 6"/>
          <p:cNvSpPr txBox="1"/>
          <p:nvPr/>
        </p:nvSpPr>
        <p:spPr>
          <a:xfrm>
            <a:off x="6766560" y="315468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Repeat trials</a:t>
            </a:r>
            <a:endParaRPr lang="en-US" sz="1600" dirty="0"/>
          </a:p>
        </p:txBody>
      </p:sp>
      <p:sp>
        <p:nvSpPr>
          <p:cNvPr id="32" name="Feature text 6"/>
          <p:cNvSpPr txBox="1"/>
          <p:nvPr/>
        </p:nvSpPr>
        <p:spPr>
          <a:xfrm>
            <a:off x="6217920" y="370332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Run 20 fresh simulations and see the spread.</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tx1"/>
                </a:solidFill>
              </a:rPr>
              <a:t>Results from 100 runs</a:t>
            </a:r>
            <a:endParaRPr lang="en-US" sz="3400" dirty="0"/>
          </a:p>
        </p:txBody>
      </p:sp>
      <p:graphicFrame>
        <p:nvGraphicFramePr>
          <p:cNvPr id="3" name="Chart 0" descr=""/>
          <p:cNvGraphicFramePr/>
          <p:nvPr/>
        </p:nvGraphicFramePr>
        <p:xfrm>
          <a:off x="457200" y="1188720"/>
          <a:ext cx="5212080" cy="3246120"/>
        </p:xfrm>
        <a:graphic xmlns:a="http://schemas.openxmlformats.org/drawingml/2006/main">
          <a:graphicData uri="http://schemas.openxmlformats.org/drawingml/2006/chart">
            <c:chart xmlns:c="http://schemas.openxmlformats.org/drawingml/2006/chart" r:id="rId1"/>
          </a:graphicData>
        </a:graphic>
      </p:graphicFrame>
      <p:sp>
        <p:nvSpPr>
          <p:cNvPr id="4" name="Result card 1"/>
          <p:cNvSpPr/>
          <p:nvPr/>
        </p:nvSpPr>
        <p:spPr>
          <a:xfrm>
            <a:off x="5943600" y="1234440"/>
            <a:ext cx="2743200" cy="1417320"/>
          </a:xfrm>
          <a:prstGeom prst="rect">
            <a:avLst/>
          </a:prstGeom>
          <a:solidFill>
            <a:schemeClr val="bg2"/>
          </a:solidFill>
          <a:ln/>
        </p:spPr>
      </p:sp>
      <p:sp>
        <p:nvSpPr>
          <p:cNvPr id="5" name="Result stat 1"/>
          <p:cNvSpPr txBox="1"/>
          <p:nvPr/>
        </p:nvSpPr>
        <p:spPr>
          <a:xfrm>
            <a:off x="6126480" y="1325880"/>
            <a:ext cx="2468880" cy="548640"/>
          </a:xfrm>
          <a:prstGeom prst="rect">
            <a:avLst/>
          </a:prstGeom>
          <a:noFill/>
          <a:ln/>
        </p:spPr>
        <p:txBody>
          <a:bodyPr wrap="square" lIns="0" tIns="0" rIns="0" bIns="0" rtlCol="0" anchor="t"/>
          <a:lstStyle/>
          <a:p>
            <a:pPr indent="0" marL="0">
              <a:buNone/>
            </a:pPr>
            <a:r>
              <a:rPr lang="en-US" sz="3200" b="1" dirty="0">
                <a:solidFill>
                  <a:schemeClr val="accent1"/>
                </a:solidFill>
              </a:rPr>
              <a:t>37%</a:t>
            </a:r>
            <a:endParaRPr lang="en-US" sz="3200" dirty="0"/>
          </a:p>
        </p:txBody>
      </p:sp>
      <p:sp>
        <p:nvSpPr>
          <p:cNvPr id="6" name="Result label 1"/>
          <p:cNvSpPr txBox="1"/>
          <p:nvPr/>
        </p:nvSpPr>
        <p:spPr>
          <a:xfrm>
            <a:off x="6126480" y="1920240"/>
            <a:ext cx="2423160" cy="685800"/>
          </a:xfrm>
          <a:prstGeom prst="rect">
            <a:avLst/>
          </a:prstGeom>
          <a:noFill/>
          <a:ln/>
        </p:spPr>
        <p:txBody>
          <a:bodyPr wrap="square" lIns="0" tIns="0" rIns="0" bIns="0" rtlCol="0" anchor="t"/>
          <a:lstStyle/>
          <a:p>
            <a:pPr indent="0" marL="0">
              <a:buNone/>
            </a:pPr>
            <a:r>
              <a:rPr lang="en-US" sz="1400" dirty="0">
                <a:solidFill>
                  <a:schemeClr val="tx1"/>
                </a:solidFill>
              </a:rPr>
              <a:t>less waiting than the best tuned fixed plan (24 s against 38 s)</a:t>
            </a:r>
            <a:endParaRPr lang="en-US" sz="1400" dirty="0"/>
          </a:p>
        </p:txBody>
      </p:sp>
      <p:sp>
        <p:nvSpPr>
          <p:cNvPr id="7" name="Result card 2"/>
          <p:cNvSpPr/>
          <p:nvPr/>
        </p:nvSpPr>
        <p:spPr>
          <a:xfrm>
            <a:off x="5943600" y="2788920"/>
            <a:ext cx="2743200" cy="1417320"/>
          </a:xfrm>
          <a:prstGeom prst="rect">
            <a:avLst/>
          </a:prstGeom>
          <a:solidFill>
            <a:schemeClr val="bg2"/>
          </a:solidFill>
          <a:ln/>
        </p:spPr>
      </p:sp>
      <p:sp>
        <p:nvSpPr>
          <p:cNvPr id="8" name="Result stat 2"/>
          <p:cNvSpPr txBox="1"/>
          <p:nvPr/>
        </p:nvSpPr>
        <p:spPr>
          <a:xfrm>
            <a:off x="6126480" y="2880360"/>
            <a:ext cx="2468880" cy="548640"/>
          </a:xfrm>
          <a:prstGeom prst="rect">
            <a:avLst/>
          </a:prstGeom>
          <a:noFill/>
          <a:ln/>
        </p:spPr>
        <p:txBody>
          <a:bodyPr wrap="square" lIns="0" tIns="0" rIns="0" bIns="0" rtlCol="0" anchor="t"/>
          <a:lstStyle/>
          <a:p>
            <a:pPr indent="0" marL="0">
              <a:buNone/>
            </a:pPr>
            <a:r>
              <a:rPr lang="en-US" sz="3200" b="1" dirty="0">
                <a:solidFill>
                  <a:schemeClr val="accent1"/>
                </a:solidFill>
              </a:rPr>
              <a:t>100 of 100</a:t>
            </a:r>
            <a:endParaRPr lang="en-US" sz="3200" dirty="0"/>
          </a:p>
        </p:txBody>
      </p:sp>
      <p:sp>
        <p:nvSpPr>
          <p:cNvPr id="9" name="Result label 2"/>
          <p:cNvSpPr txBox="1"/>
          <p:nvPr/>
        </p:nvSpPr>
        <p:spPr>
          <a:xfrm>
            <a:off x="6126480" y="3474720"/>
            <a:ext cx="2423160" cy="685800"/>
          </a:xfrm>
          <a:prstGeom prst="rect">
            <a:avLst/>
          </a:prstGeom>
          <a:noFill/>
          <a:ln/>
        </p:spPr>
        <p:txBody>
          <a:bodyPr wrap="square" lIns="0" tIns="0" rIns="0" bIns="0" rtlCol="0" anchor="t"/>
          <a:lstStyle/>
          <a:p>
            <a:pPr indent="0" marL="0">
              <a:buNone/>
            </a:pPr>
            <a:r>
              <a:rPr lang="en-US" sz="1400" dirty="0">
                <a:solidFill>
                  <a:schemeClr val="tx1"/>
                </a:solidFill>
              </a:rPr>
              <a:t>runs where adaptive had the lower average wait</a:t>
            </a:r>
            <a:endParaRPr lang="en-US" sz="1400" dirty="0"/>
          </a:p>
        </p:txBody>
      </p:sp>
      <p:sp>
        <p:nvSpPr>
          <p:cNvPr id="10" name="Method note"/>
          <p:cNvSpPr txBox="1"/>
          <p:nvPr/>
        </p:nvSpPr>
        <p:spPr>
          <a:xfrm>
            <a:off x="457200" y="4480560"/>
            <a:ext cx="7680960" cy="411480"/>
          </a:xfrm>
          <a:prstGeom prst="rect">
            <a:avLst/>
          </a:prstGeom>
          <a:noFill/>
          <a:ln/>
        </p:spPr>
        <p:txBody>
          <a:bodyPr wrap="square" lIns="0" tIns="0" rIns="0" bIns="0" rtlCol="0" anchor="t"/>
          <a:lstStyle/>
          <a:p>
            <a:pPr indent="0" marL="0">
              <a:buNone/>
            </a:pPr>
            <a:r>
              <a:rPr lang="en-US" sz="1000" dirty="0">
                <a:solidFill>
                  <a:schemeClr val="accent4"/>
                </a:solidFill>
              </a:rPr>
              <a:t>Simulation, not field data. 30-minute runs, 100 per comparison, default traffic (A 0.16, B 0.03, C 0.02, D 0.10 cars per second). Tuned split: greens of 43, 8, 8 and 27 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7315200" cy="731520"/>
          </a:xfrm>
          <a:prstGeom prst="rect">
            <a:avLst/>
          </a:prstGeom>
          <a:noFill/>
          <a:ln/>
        </p:spPr>
        <p:txBody>
          <a:bodyPr wrap="square" lIns="0" tIns="0" rIns="0" bIns="0" rtlCol="0" anchor="ctr"/>
          <a:lstStyle/>
          <a:p>
            <a:pPr algn="l" indent="0" marL="0">
              <a:buNone/>
            </a:pPr>
            <a:r>
              <a:rPr lang="en-US" sz="3400" b="1" dirty="0">
                <a:solidFill>
                  <a:schemeClr val="bg1"/>
                </a:solidFill>
              </a:rPr>
              <a:t>Limits and next steps</a:t>
            </a:r>
            <a:endParaRPr lang="en-US" sz="3400" dirty="0"/>
          </a:p>
        </p:txBody>
      </p:sp>
      <p:sp>
        <p:nvSpPr>
          <p:cNvPr id="3" name="Limits card"/>
          <p:cNvSpPr/>
          <p:nvPr/>
        </p:nvSpPr>
        <p:spPr>
          <a:xfrm>
            <a:off x="457200" y="1234440"/>
            <a:ext cx="3931920" cy="2606040"/>
          </a:xfrm>
          <a:prstGeom prst="rect">
            <a:avLst/>
          </a:prstGeom>
          <a:solidFill>
            <a:schemeClr val="accent4"/>
          </a:solidFill>
          <a:ln/>
        </p:spPr>
      </p:sp>
      <p:sp>
        <p:nvSpPr>
          <p:cNvPr id="4" name="Limits heading"/>
          <p:cNvSpPr txBox="1"/>
          <p:nvPr/>
        </p:nvSpPr>
        <p:spPr>
          <a:xfrm>
            <a:off x="685800" y="1371600"/>
            <a:ext cx="3474720" cy="365760"/>
          </a:xfrm>
          <a:prstGeom prst="rect">
            <a:avLst/>
          </a:prstGeom>
          <a:noFill/>
          <a:ln/>
        </p:spPr>
        <p:txBody>
          <a:bodyPr wrap="square" lIns="0" tIns="0" rIns="0" bIns="0" rtlCol="0" anchor="t"/>
          <a:lstStyle/>
          <a:p>
            <a:pPr indent="0" marL="0">
              <a:buNone/>
            </a:pPr>
            <a:r>
              <a:rPr lang="en-US" sz="1800" b="1" dirty="0">
                <a:solidFill>
                  <a:schemeClr val="accent2"/>
                </a:solidFill>
              </a:rPr>
              <a:t>What this prototype is not</a:t>
            </a:r>
            <a:endParaRPr lang="en-US" sz="1800" dirty="0"/>
          </a:p>
        </p:txBody>
      </p:sp>
      <p:sp>
        <p:nvSpPr>
          <p:cNvPr id="5" name="Limits list"/>
          <p:cNvSpPr txBox="1"/>
          <p:nvPr/>
        </p:nvSpPr>
        <p:spPr>
          <a:xfrm>
            <a:off x="685800" y="1874520"/>
            <a:ext cx="352044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A simulation of one junction, not field data</a:t>
            </a:r>
            <a:endParaRPr lang="en-US" sz="1600" dirty="0"/>
          </a:p>
          <a:p>
            <a:pPr marL="342900" indent="-342900">
              <a:spcAft>
                <a:spcPts val="800"/>
              </a:spcAft>
              <a:buSzPct val="100000"/>
              <a:buChar char="•"/>
            </a:pPr>
            <a:r>
              <a:rPr lang="en-US" sz="1600" dirty="0">
                <a:solidFill>
                  <a:schemeClr val="bg1"/>
                </a:solidFill>
              </a:rPr>
              <a:t>Assumes sensors give queue counts per road</a:t>
            </a:r>
            <a:endParaRPr lang="en-US" sz="1600" dirty="0"/>
          </a:p>
          <a:p>
            <a:pPr marL="342900" indent="-342900">
              <a:spcAft>
                <a:spcPts val="800"/>
              </a:spcAft>
              <a:buSzPct val="100000"/>
              <a:buChar char="•"/>
            </a:pPr>
            <a:r>
              <a:rPr lang="en-US" sz="1600" dirty="0">
                <a:solidFill>
                  <a:schemeClr val="bg1"/>
                </a:solidFill>
              </a:rPr>
              <a:t>Cloud learning is a design, not built</a:t>
            </a:r>
            <a:endParaRPr lang="en-US" sz="1600" dirty="0"/>
          </a:p>
        </p:txBody>
      </p:sp>
      <p:sp>
        <p:nvSpPr>
          <p:cNvPr id="6" name="Roadmap card 1"/>
          <p:cNvSpPr/>
          <p:nvPr/>
        </p:nvSpPr>
        <p:spPr>
          <a:xfrm>
            <a:off x="4754880" y="1234440"/>
            <a:ext cx="3931920" cy="777240"/>
          </a:xfrm>
          <a:prstGeom prst="rect">
            <a:avLst/>
          </a:prstGeom>
          <a:solidFill>
            <a:schemeClr val="accent1"/>
          </a:solidFill>
          <a:ln/>
        </p:spPr>
      </p:sp>
      <p:sp>
        <p:nvSpPr>
          <p:cNvPr id="7" name="Roadmap stage 1"/>
          <p:cNvSpPr txBox="1"/>
          <p:nvPr/>
        </p:nvSpPr>
        <p:spPr>
          <a:xfrm>
            <a:off x="4937760" y="1344168"/>
            <a:ext cx="8229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NOW</a:t>
            </a:r>
            <a:endParaRPr lang="en-US" sz="1200" dirty="0"/>
          </a:p>
        </p:txBody>
      </p:sp>
      <p:sp>
        <p:nvSpPr>
          <p:cNvPr id="8" name="Roadmap text 1"/>
          <p:cNvSpPr txBox="1"/>
          <p:nvPr/>
        </p:nvSpPr>
        <p:spPr>
          <a:xfrm>
            <a:off x="4937760" y="1600200"/>
            <a:ext cx="3566160" cy="365760"/>
          </a:xfrm>
          <a:prstGeom prst="rect">
            <a:avLst/>
          </a:prstGeom>
          <a:noFill/>
          <a:ln/>
        </p:spPr>
        <p:txBody>
          <a:bodyPr wrap="square" lIns="0" tIns="0" rIns="0" bIns="0" rtlCol="0" anchor="t"/>
          <a:lstStyle/>
          <a:p>
            <a:pPr indent="0" marL="0">
              <a:buNone/>
            </a:pPr>
            <a:r>
              <a:rPr lang="en-US" sz="1400" dirty="0">
                <a:solidFill>
                  <a:schemeClr val="bg1"/>
                </a:solidFill>
              </a:rPr>
              <a:t>Simulator and benchmark</a:t>
            </a:r>
            <a:endParaRPr lang="en-US" sz="1400" dirty="0"/>
          </a:p>
        </p:txBody>
      </p:sp>
      <p:sp>
        <p:nvSpPr>
          <p:cNvPr id="9" name="Roadmap card 2"/>
          <p:cNvSpPr/>
          <p:nvPr/>
        </p:nvSpPr>
        <p:spPr>
          <a:xfrm>
            <a:off x="4754880" y="2121408"/>
            <a:ext cx="3931920" cy="777240"/>
          </a:xfrm>
          <a:prstGeom prst="rect">
            <a:avLst/>
          </a:prstGeom>
          <a:solidFill>
            <a:schemeClr val="accent4"/>
          </a:solidFill>
          <a:ln/>
        </p:spPr>
      </p:sp>
      <p:sp>
        <p:nvSpPr>
          <p:cNvPr id="10" name="Roadmap stage 2"/>
          <p:cNvSpPr txBox="1"/>
          <p:nvPr/>
        </p:nvSpPr>
        <p:spPr>
          <a:xfrm>
            <a:off x="4937760" y="2231136"/>
            <a:ext cx="8229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NEXT</a:t>
            </a:r>
            <a:endParaRPr lang="en-US" sz="1200" dirty="0"/>
          </a:p>
        </p:txBody>
      </p:sp>
      <p:sp>
        <p:nvSpPr>
          <p:cNvPr id="11" name="Roadmap text 2"/>
          <p:cNvSpPr txBox="1"/>
          <p:nvPr/>
        </p:nvSpPr>
        <p:spPr>
          <a:xfrm>
            <a:off x="4937760" y="2487168"/>
            <a:ext cx="3566160" cy="365760"/>
          </a:xfrm>
          <a:prstGeom prst="rect">
            <a:avLst/>
          </a:prstGeom>
          <a:noFill/>
          <a:ln/>
        </p:spPr>
        <p:txBody>
          <a:bodyPr wrap="square" lIns="0" tIns="0" rIns="0" bIns="0" rtlCol="0" anchor="t"/>
          <a:lstStyle/>
          <a:p>
            <a:pPr indent="0" marL="0">
              <a:buNone/>
            </a:pPr>
            <a:r>
              <a:rPr lang="en-US" sz="1400" dirty="0">
                <a:solidFill>
                  <a:schemeClr val="bg1"/>
                </a:solidFill>
              </a:rPr>
              <a:t>Pilot at one real junction with sensor counts</a:t>
            </a:r>
            <a:endParaRPr lang="en-US" sz="1400" dirty="0"/>
          </a:p>
        </p:txBody>
      </p:sp>
      <p:sp>
        <p:nvSpPr>
          <p:cNvPr id="12" name="Roadmap card 3"/>
          <p:cNvSpPr/>
          <p:nvPr/>
        </p:nvSpPr>
        <p:spPr>
          <a:xfrm>
            <a:off x="4754880" y="3008376"/>
            <a:ext cx="3931920" cy="777240"/>
          </a:xfrm>
          <a:prstGeom prst="rect">
            <a:avLst/>
          </a:prstGeom>
          <a:solidFill>
            <a:schemeClr val="accent4"/>
          </a:solidFill>
          <a:ln/>
        </p:spPr>
      </p:sp>
      <p:sp>
        <p:nvSpPr>
          <p:cNvPr id="13" name="Roadmap stage 3"/>
          <p:cNvSpPr txBox="1"/>
          <p:nvPr/>
        </p:nvSpPr>
        <p:spPr>
          <a:xfrm>
            <a:off x="4937760" y="3118104"/>
            <a:ext cx="8229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LATER</a:t>
            </a:r>
            <a:endParaRPr lang="en-US" sz="1200" dirty="0"/>
          </a:p>
        </p:txBody>
      </p:sp>
      <p:sp>
        <p:nvSpPr>
          <p:cNvPr id="14" name="Roadmap text 3"/>
          <p:cNvSpPr txBox="1"/>
          <p:nvPr/>
        </p:nvSpPr>
        <p:spPr>
          <a:xfrm>
            <a:off x="4937760" y="3374136"/>
            <a:ext cx="3566160" cy="365760"/>
          </a:xfrm>
          <a:prstGeom prst="rect">
            <a:avLst/>
          </a:prstGeom>
          <a:noFill/>
          <a:ln/>
        </p:spPr>
        <p:txBody>
          <a:bodyPr wrap="square" lIns="0" tIns="0" rIns="0" bIns="0" rtlCol="0" anchor="t"/>
          <a:lstStyle/>
          <a:p>
            <a:pPr indent="0" marL="0">
              <a:buNone/>
            </a:pPr>
            <a:r>
              <a:rPr lang="en-US" sz="1400" dirty="0">
                <a:solidFill>
                  <a:schemeClr val="bg1"/>
                </a:solidFill>
              </a:rPr>
              <a:t>Corridor coordination and cloud learning</a:t>
            </a:r>
            <a:endParaRPr lang="en-US" sz="1400" dirty="0"/>
          </a:p>
        </p:txBody>
      </p:sp>
      <p:sp>
        <p:nvSpPr>
          <p:cNvPr id="15" name="Closing line"/>
          <p:cNvSpPr txBox="1"/>
          <p:nvPr/>
        </p:nvSpPr>
        <p:spPr>
          <a:xfrm>
            <a:off x="457200" y="4160520"/>
            <a:ext cx="7680960" cy="457200"/>
          </a:xfrm>
          <a:prstGeom prst="rect">
            <a:avLst/>
          </a:prstGeom>
          <a:noFill/>
          <a:ln/>
        </p:spPr>
        <p:txBody>
          <a:bodyPr wrap="square" lIns="0" tIns="0" rIns="0" bIns="0" rtlCol="0" anchor="t"/>
          <a:lstStyle/>
          <a:p>
            <a:pPr indent="0" marL="0">
              <a:buNone/>
            </a:pPr>
            <a:r>
              <a:rPr lang="en-US" sz="2400" b="1" dirty="0">
                <a:solidFill>
                  <a:schemeClr val="bg1"/>
                </a:solidFill>
              </a:rPr>
              <a:t>Green time should follow the queue.</a:t>
            </a:r>
            <a:endParaRPr lang="en-US" sz="2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mart Traffic">
  <a:themeElements>
    <a:clrScheme name="Smart Traffic">
      <a:dk1>
        <a:srgbClr val="1B1F23"/>
      </a:dk1>
      <a:lt1>
        <a:srgbClr val="FFFFFF"/>
      </a:lt1>
      <a:dk2>
        <a:srgbClr val="0B5A3C"/>
      </a:dk2>
      <a:lt2>
        <a:srgbClr val="F1F3F0"/>
      </a:lt2>
      <a:accent1>
        <a:srgbClr val="0E7A52"/>
      </a:accent1>
      <a:accent2>
        <a:srgbClr val="F2B705"/>
      </a:accent2>
      <a:accent3>
        <a:srgbClr val="C0392B"/>
      </a:accent3>
      <a:accent4>
        <a:srgbClr val="3B4046"/>
      </a:accent4>
      <a:accent5>
        <a:srgbClr val="8A948F"/>
      </a:accent5>
      <a:accent6>
        <a:srgbClr val="3ECF8E"/>
      </a:accent6>
      <a:hlink>
        <a:srgbClr val="0E7A52"/>
      </a:hlink>
      <a:folHlink>
        <a:srgbClr val="3B4046"/>
      </a:folHlink>
    </a:clrScheme>
    <a:fontScheme name="Smart Traffi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Traffic: how the prototype works</dc:title>
  <dc:subject>PptxGenJS Presentation</dc:subject>
  <dc:creator>PptxGenJS</dc:creator>
  <cp:lastModifiedBy>PptxGenJS</cp:lastModifiedBy>
  <cp:revision>1</cp:revision>
  <dcterms:created xsi:type="dcterms:W3CDTF">2026-10-09T05:41:22Z</dcterms:created>
  <dcterms:modified xsi:type="dcterms:W3CDTF">2026-10-09T05:41:22Z</dcterms:modified>
</cp:coreProperties>
</file>